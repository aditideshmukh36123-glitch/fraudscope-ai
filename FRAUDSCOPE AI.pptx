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63" r:id="rId5"/>
    <p:sldId id="258" r:id="rId6"/>
    <p:sldId id="259" r:id="rId7"/>
    <p:sldId id="260" r:id="rId8"/>
    <p:sldId id="261" r:id="rId9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jEj4Z14ES2e/M8jlx5LI9KaV6b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79AD1DD-D348-B7FE-7FB7-F4E48D87D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BEF98AC-ACE6-E351-4AB6-53A2C18E7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F6BACFB-E3F9-4730-54BA-96DEB6445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00810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B774367-F5BC-C17F-CDF0-792DAC69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243F755-CA18-73EC-BF1A-25740B5BB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B167221-F77D-70AC-C311-BA7C320FEE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42284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fraudscope-ai-cwimixvf4n9ykrnusventy.streamlit.app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" y="0"/>
            <a:ext cx="19969024" cy="10287000"/>
          </a:xfrm>
          <a:custGeom>
            <a:avLst/>
            <a:gdLst/>
            <a:ahLst/>
            <a:cxnLst/>
            <a:rect l="l" t="t" r="r" b="b"/>
            <a:pathLst>
              <a:path w="18278283" h="10287000" extrusionOk="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4094588" y="797115"/>
            <a:ext cx="4183695" cy="1384496"/>
          </a:xfrm>
          <a:custGeom>
            <a:avLst/>
            <a:gdLst/>
            <a:ahLst/>
            <a:cxnLst/>
            <a:rect l="l" t="t" r="r" b="b"/>
            <a:pathLst>
              <a:path w="4183695" h="1384496" extrusionOk="0">
                <a:moveTo>
                  <a:pt x="0" y="0"/>
                </a:moveTo>
                <a:lnTo>
                  <a:pt x="4183695" y="0"/>
                </a:lnTo>
                <a:lnTo>
                  <a:pt x="4183695" y="1384496"/>
                </a:lnTo>
                <a:lnTo>
                  <a:pt x="0" y="138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0657" t="-130613" r="-9473" b="-132403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5375799" y="599912"/>
            <a:ext cx="6597154" cy="94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4" b="1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HACK2IGNITE 2026 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313517" y="2568630"/>
            <a:ext cx="18741399" cy="310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080411" marR="0" lvl="1" indent="-540205" algn="l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4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name: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CodeMakers</a:t>
            </a:r>
            <a:endParaRPr sz="1000" dirty="0"/>
          </a:p>
          <a:p>
            <a:pPr marL="1080411" marR="0" lvl="1" indent="-540205" algn="l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4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statement ID:  </a:t>
            </a:r>
            <a:r>
              <a:rPr lang="en-US" sz="3600" dirty="0"/>
              <a:t>FT-02</a:t>
            </a:r>
            <a:endParaRPr sz="1000" dirty="0"/>
          </a:p>
          <a:p>
            <a:pPr marL="1080411" marR="0" lvl="1" indent="-540205" algn="l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4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Institution name:  </a:t>
            </a:r>
            <a:r>
              <a:rPr lang="en-US" sz="3600" dirty="0"/>
              <a:t>P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rof. Ram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meghe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institute of technology and Research</a:t>
            </a:r>
            <a:endParaRPr sz="1000" dirty="0"/>
          </a:p>
          <a:p>
            <a:pPr marL="1080411" marR="0" lvl="1" indent="-540205" algn="l" rtl="0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4"/>
              <a:buFont typeface="Arial"/>
              <a:buChar char="•"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members: 1) Ishwari Ugale  </a:t>
            </a:r>
            <a:r>
              <a:rPr lang="en-US" sz="3600" dirty="0"/>
              <a:t>2) Aditi Deshmukh</a:t>
            </a:r>
            <a:endParaRPr sz="1000" dirty="0"/>
          </a:p>
        </p:txBody>
      </p:sp>
      <p:sp>
        <p:nvSpPr>
          <p:cNvPr id="89" name="Google Shape;89;p1"/>
          <p:cNvSpPr/>
          <p:nvPr/>
        </p:nvSpPr>
        <p:spPr>
          <a:xfrm>
            <a:off x="313517" y="419065"/>
            <a:ext cx="2179200" cy="1549653"/>
          </a:xfrm>
          <a:custGeom>
            <a:avLst/>
            <a:gdLst/>
            <a:ahLst/>
            <a:cxnLst/>
            <a:rect l="l" t="t" r="r" b="b"/>
            <a:pathLst>
              <a:path w="2179200" h="1549653" extrusionOk="0">
                <a:moveTo>
                  <a:pt x="0" y="0"/>
                </a:moveTo>
                <a:lnTo>
                  <a:pt x="2179201" y="0"/>
                </a:lnTo>
                <a:lnTo>
                  <a:pt x="2179201" y="1549653"/>
                </a:lnTo>
                <a:lnTo>
                  <a:pt x="0" y="15496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EF3E39-EDF8-65A5-F784-7B1366698173}"/>
              </a:ext>
            </a:extLst>
          </p:cNvPr>
          <p:cNvSpPr txBox="1"/>
          <p:nvPr/>
        </p:nvSpPr>
        <p:spPr>
          <a:xfrm>
            <a:off x="663053" y="7003470"/>
            <a:ext cx="14871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AI-powered transaction risk intelligence for faster and explainable fraud investigation</a:t>
            </a:r>
            <a:endParaRPr lang="en-IN" sz="24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BB23F-193D-00BB-2769-D4BF184FB471}"/>
              </a:ext>
            </a:extLst>
          </p:cNvPr>
          <p:cNvSpPr txBox="1"/>
          <p:nvPr/>
        </p:nvSpPr>
        <p:spPr>
          <a:xfrm>
            <a:off x="663053" y="6182882"/>
            <a:ext cx="561913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FRAUDSCOPE AI</a:t>
            </a:r>
            <a:endParaRPr lang="en-US" sz="4400" dirty="0"/>
          </a:p>
          <a:p>
            <a:endParaRPr lang="en-IN" sz="44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9A72C285-22AD-B7BA-FAE6-23CA68D343EE}"/>
              </a:ext>
            </a:extLst>
          </p:cNvPr>
          <p:cNvSpPr txBox="1"/>
          <p:nvPr/>
        </p:nvSpPr>
        <p:spPr>
          <a:xfrm>
            <a:off x="544215" y="8357911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LIVE PROTOTYPE — BUILT &amp; DEMO-READY</a:t>
            </a:r>
            <a:endParaRPr lang="en-US" sz="1150" dirty="0"/>
          </a:p>
        </p:txBody>
      </p:sp>
      <p:sp>
        <p:nvSpPr>
          <p:cNvPr id="4" name="Rounded Rectangle 9">
            <a:extLst>
              <a:ext uri="{FF2B5EF4-FFF2-40B4-BE49-F238E27FC236}">
                <a16:creationId xmlns:a16="http://schemas.microsoft.com/office/drawing/2014/main" id="{5CF30247-DA54-5C0C-BDCF-69C4E68044C8}"/>
              </a:ext>
            </a:extLst>
          </p:cNvPr>
          <p:cNvSpPr/>
          <p:nvPr/>
        </p:nvSpPr>
        <p:spPr>
          <a:xfrm>
            <a:off x="663053" y="8239648"/>
            <a:ext cx="2105497" cy="566928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50" b="1">
                <a:solidFill>
                  <a:srgbClr val="F2F5FA"/>
                </a:solidFill>
                <a:latin typeface="Arial"/>
              </a:rPr>
              <a:t>💳 Transaction</a:t>
            </a: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E20E6366-7555-5E48-C40B-D4472DCCA3AD}"/>
              </a:ext>
            </a:extLst>
          </p:cNvPr>
          <p:cNvSpPr txBox="1"/>
          <p:nvPr/>
        </p:nvSpPr>
        <p:spPr>
          <a:xfrm>
            <a:off x="2768550" y="8372718"/>
            <a:ext cx="164592" cy="3007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2000" b="1" i="0" dirty="0">
                <a:solidFill>
                  <a:srgbClr val="C00000"/>
                </a:solidFill>
                <a:latin typeface="Arial"/>
              </a:rPr>
              <a:t>→</a:t>
            </a:r>
          </a:p>
        </p:txBody>
      </p:sp>
      <p:sp>
        <p:nvSpPr>
          <p:cNvPr id="7" name="Rounded Rectangle 11">
            <a:extLst>
              <a:ext uri="{FF2B5EF4-FFF2-40B4-BE49-F238E27FC236}">
                <a16:creationId xmlns:a16="http://schemas.microsoft.com/office/drawing/2014/main" id="{4E0D8259-4466-577B-B834-AF81AE067892}"/>
              </a:ext>
            </a:extLst>
          </p:cNvPr>
          <p:cNvSpPr/>
          <p:nvPr/>
        </p:nvSpPr>
        <p:spPr>
          <a:xfrm>
            <a:off x="2933142" y="8239648"/>
            <a:ext cx="2105497" cy="566928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50" b="1">
                <a:solidFill>
                  <a:srgbClr val="F2F5FA"/>
                </a:solidFill>
                <a:latin typeface="Arial"/>
              </a:rPr>
              <a:t>🧠 AI Analysis</a:t>
            </a: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417A698E-6B9D-8212-16B8-E201561B0024}"/>
              </a:ext>
            </a:extLst>
          </p:cNvPr>
          <p:cNvSpPr txBox="1"/>
          <p:nvPr/>
        </p:nvSpPr>
        <p:spPr>
          <a:xfrm>
            <a:off x="5038639" y="8372718"/>
            <a:ext cx="164592" cy="3007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2000" b="1" i="0" dirty="0">
                <a:solidFill>
                  <a:srgbClr val="C00000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A62BDE5B-A07E-720E-520D-2663D06F39BC}"/>
              </a:ext>
            </a:extLst>
          </p:cNvPr>
          <p:cNvSpPr/>
          <p:nvPr/>
        </p:nvSpPr>
        <p:spPr>
          <a:xfrm>
            <a:off x="5203231" y="8239648"/>
            <a:ext cx="2105497" cy="566928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50" b="1">
                <a:solidFill>
                  <a:srgbClr val="F2F5FA"/>
                </a:solidFill>
                <a:latin typeface="Arial"/>
              </a:rPr>
              <a:t>🎯 Risk Score</a:t>
            </a:r>
          </a:p>
        </p:txBody>
      </p:sp>
      <p:sp>
        <p:nvSpPr>
          <p:cNvPr id="10" name="TextBox 14">
            <a:extLst>
              <a:ext uri="{FF2B5EF4-FFF2-40B4-BE49-F238E27FC236}">
                <a16:creationId xmlns:a16="http://schemas.microsoft.com/office/drawing/2014/main" id="{3233AF3A-15DD-94E9-2475-996072135999}"/>
              </a:ext>
            </a:extLst>
          </p:cNvPr>
          <p:cNvSpPr txBox="1"/>
          <p:nvPr/>
        </p:nvSpPr>
        <p:spPr>
          <a:xfrm>
            <a:off x="7308729" y="8372718"/>
            <a:ext cx="164592" cy="3007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C00000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5">
            <a:extLst>
              <a:ext uri="{FF2B5EF4-FFF2-40B4-BE49-F238E27FC236}">
                <a16:creationId xmlns:a16="http://schemas.microsoft.com/office/drawing/2014/main" id="{217379EB-8B61-0515-8239-89EA4E6E7EBE}"/>
              </a:ext>
            </a:extLst>
          </p:cNvPr>
          <p:cNvSpPr/>
          <p:nvPr/>
        </p:nvSpPr>
        <p:spPr>
          <a:xfrm>
            <a:off x="7473321" y="8239648"/>
            <a:ext cx="2105497" cy="566928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50" b="1">
                <a:solidFill>
                  <a:srgbClr val="F2F5FA"/>
                </a:solidFill>
                <a:latin typeface="Arial"/>
              </a:rPr>
              <a:t>💡 Explanation</a:t>
            </a: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8B1B762D-B0C5-9C41-2EF5-85E771010A95}"/>
              </a:ext>
            </a:extLst>
          </p:cNvPr>
          <p:cNvSpPr txBox="1"/>
          <p:nvPr/>
        </p:nvSpPr>
        <p:spPr>
          <a:xfrm>
            <a:off x="9578818" y="8372718"/>
            <a:ext cx="164592" cy="3007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C00000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7">
            <a:extLst>
              <a:ext uri="{FF2B5EF4-FFF2-40B4-BE49-F238E27FC236}">
                <a16:creationId xmlns:a16="http://schemas.microsoft.com/office/drawing/2014/main" id="{682010D9-5932-1A10-E53D-525CCA63CEA9}"/>
              </a:ext>
            </a:extLst>
          </p:cNvPr>
          <p:cNvSpPr/>
          <p:nvPr/>
        </p:nvSpPr>
        <p:spPr>
          <a:xfrm>
            <a:off x="9743410" y="8239648"/>
            <a:ext cx="2105497" cy="566928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250" b="1">
                <a:solidFill>
                  <a:srgbClr val="F2F5FA"/>
                </a:solidFill>
                <a:latin typeface="Arial"/>
              </a:rPr>
              <a:t>🚨 Alert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589269A-553D-E512-9BF3-477E24569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C384939-3856-6AA0-9E53-84585CF2EF41}"/>
              </a:ext>
            </a:extLst>
          </p:cNvPr>
          <p:cNvSpPr/>
          <p:nvPr/>
        </p:nvSpPr>
        <p:spPr>
          <a:xfrm>
            <a:off x="0" y="1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 extrusionOk="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1" name="Google Shape;111;p4">
            <a:extLst>
              <a:ext uri="{FF2B5EF4-FFF2-40B4-BE49-F238E27FC236}">
                <a16:creationId xmlns:a16="http://schemas.microsoft.com/office/drawing/2014/main" id="{C0AF902E-B0F9-DFF8-DC78-A9CA75C27939}"/>
              </a:ext>
            </a:extLst>
          </p:cNvPr>
          <p:cNvGrpSpPr/>
          <p:nvPr/>
        </p:nvGrpSpPr>
        <p:grpSpPr>
          <a:xfrm>
            <a:off x="-2173044" y="160734"/>
            <a:ext cx="16977900" cy="1735931"/>
            <a:chOff x="-691600" y="-14289"/>
            <a:chExt cx="22637200" cy="2314575"/>
          </a:xfrm>
        </p:grpSpPr>
        <p:sp>
          <p:nvSpPr>
            <p:cNvPr id="112" name="Google Shape;112;p4">
              <a:extLst>
                <a:ext uri="{FF2B5EF4-FFF2-40B4-BE49-F238E27FC236}">
                  <a16:creationId xmlns:a16="http://schemas.microsoft.com/office/drawing/2014/main" id="{7572D62E-8300-F599-8EF9-35B026E97953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37056" b="-137056"/>
              </a:stretch>
            </a:blipFill>
            <a:ln>
              <a:noFill/>
            </a:ln>
          </p:spPr>
        </p:sp>
        <p:sp>
          <p:nvSpPr>
            <p:cNvPr id="113" name="Google Shape;113;p4">
              <a:extLst>
                <a:ext uri="{FF2B5EF4-FFF2-40B4-BE49-F238E27FC236}">
                  <a16:creationId xmlns:a16="http://schemas.microsoft.com/office/drawing/2014/main" id="{2F39B79F-5547-0ED8-E0FD-2CA4262F33FF}"/>
                </a:ext>
              </a:extLst>
            </p:cNvPr>
            <p:cNvSpPr txBox="1"/>
            <p:nvPr/>
          </p:nvSpPr>
          <p:spPr>
            <a:xfrm>
              <a:off x="-691600" y="-14289"/>
              <a:ext cx="14055759" cy="2314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 algn="ctr"/>
              <a:r>
                <a:rPr lang="en-IN" sz="5400" dirty="0"/>
                <a:t>THE PROBLEM</a:t>
              </a:r>
              <a:endParaRPr dirty="0"/>
            </a:p>
          </p:txBody>
        </p:sp>
      </p:grpSp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59A419A9-FDEB-E9BF-7B67-1DB56353F334}"/>
              </a:ext>
            </a:extLst>
          </p:cNvPr>
          <p:cNvSpPr/>
          <p:nvPr/>
        </p:nvSpPr>
        <p:spPr>
          <a:xfrm>
            <a:off x="14094588" y="336452"/>
            <a:ext cx="4183695" cy="1384496"/>
          </a:xfrm>
          <a:custGeom>
            <a:avLst/>
            <a:gdLst/>
            <a:ahLst/>
            <a:cxnLst/>
            <a:rect l="l" t="t" r="r" b="b"/>
            <a:pathLst>
              <a:path w="4183695" h="1384496" extrusionOk="0">
                <a:moveTo>
                  <a:pt x="0" y="0"/>
                </a:moveTo>
                <a:lnTo>
                  <a:pt x="4183695" y="0"/>
                </a:lnTo>
                <a:lnTo>
                  <a:pt x="4183695" y="1384496"/>
                </a:lnTo>
                <a:lnTo>
                  <a:pt x="0" y="138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0657" t="-130613" r="-9473" b="-132403"/>
            </a:stretch>
          </a:blipFill>
          <a:ln>
            <a:noFill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67BD53-852C-BC89-DBD0-B7ECBDF0DC34}"/>
              </a:ext>
            </a:extLst>
          </p:cNvPr>
          <p:cNvSpPr txBox="1"/>
          <p:nvPr/>
        </p:nvSpPr>
        <p:spPr>
          <a:xfrm>
            <a:off x="6718092" y="7842354"/>
            <a:ext cx="2458387" cy="86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6AFFF3-948E-42E4-A846-1B076E37B8D1}"/>
              </a:ext>
            </a:extLst>
          </p:cNvPr>
          <p:cNvSpPr txBox="1"/>
          <p:nvPr/>
        </p:nvSpPr>
        <p:spPr>
          <a:xfrm>
            <a:off x="840658" y="1885951"/>
            <a:ext cx="15618542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Fraud is not always obvious.</a:t>
            </a:r>
          </a:p>
          <a:p>
            <a:endParaRPr lang="en-IN" sz="3200" b="1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Millions of transactions can make manual monitoring difficult.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A transaction can be unusual without actually being fraud.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Sudden changes in amount, location, device, or transaction frequency can indicate risk.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3200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/>
              <a:t>Analysts need a way to </a:t>
            </a:r>
            <a:r>
              <a:rPr lang="en-IN" sz="3200" b="1" dirty="0"/>
              <a:t>prioritize suspicious transactions quickly.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6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-1432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 extrusionOk="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14094588" y="336452"/>
            <a:ext cx="4183695" cy="1384496"/>
          </a:xfrm>
          <a:custGeom>
            <a:avLst/>
            <a:gdLst/>
            <a:ahLst/>
            <a:cxnLst/>
            <a:rect l="l" t="t" r="r" b="b"/>
            <a:pathLst>
              <a:path w="4183695" h="1384496" extrusionOk="0">
                <a:moveTo>
                  <a:pt x="0" y="0"/>
                </a:moveTo>
                <a:lnTo>
                  <a:pt x="4183695" y="0"/>
                </a:lnTo>
                <a:lnTo>
                  <a:pt x="4183695" y="1384496"/>
                </a:lnTo>
                <a:lnTo>
                  <a:pt x="0" y="138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0657" t="-130613" r="-9473" b="-132403"/>
            </a:stretch>
          </a:blipFill>
          <a:ln>
            <a:noFill/>
          </a:ln>
        </p:spPr>
      </p:sp>
      <p:sp>
        <p:nvSpPr>
          <p:cNvPr id="96" name="Google Shape;96;p2"/>
          <p:cNvSpPr txBox="1"/>
          <p:nvPr/>
        </p:nvSpPr>
        <p:spPr>
          <a:xfrm>
            <a:off x="7131710" y="1958012"/>
            <a:ext cx="8191864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97" name="Google Shape;97;p2"/>
          <p:cNvSpPr txBox="1"/>
          <p:nvPr/>
        </p:nvSpPr>
        <p:spPr>
          <a:xfrm>
            <a:off x="0" y="599022"/>
            <a:ext cx="1059655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IN" sz="4800" dirty="0"/>
              <a:t>OUR SOLUTION-</a:t>
            </a:r>
            <a:r>
              <a:rPr lang="en-US" sz="4800" b="1" dirty="0">
                <a:solidFill>
                  <a:srgbClr val="1F49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FRAUDSCOPE AI</a:t>
            </a:r>
            <a:endParaRPr lang="en-US" sz="4800" dirty="0"/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FC5B0A66-8AC5-94CA-7198-253A7496B3C2}"/>
              </a:ext>
            </a:extLst>
          </p:cNvPr>
          <p:cNvSpPr/>
          <p:nvPr/>
        </p:nvSpPr>
        <p:spPr>
          <a:xfrm>
            <a:off x="399741" y="1720948"/>
            <a:ext cx="5984436" cy="1078396"/>
          </a:xfrm>
          <a:prstGeom prst="roundRect">
            <a:avLst>
              <a:gd name="adj" fmla="val 6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💳  TRANSACTION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709CAAB-C495-3C1F-A2F5-1E70B8756CF1}"/>
              </a:ext>
            </a:extLst>
          </p:cNvPr>
          <p:cNvSpPr txBox="1"/>
          <p:nvPr/>
        </p:nvSpPr>
        <p:spPr>
          <a:xfrm>
            <a:off x="1651818" y="3326820"/>
            <a:ext cx="4424517" cy="2164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35D6F0"/>
                </a:solidFill>
                <a:latin typeface="Arial"/>
              </a:rPr>
              <a:t>↓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37746020-EC92-44C4-4284-81AB3C2A5E78}"/>
              </a:ext>
            </a:extLst>
          </p:cNvPr>
          <p:cNvSpPr/>
          <p:nvPr/>
        </p:nvSpPr>
        <p:spPr>
          <a:xfrm>
            <a:off x="432645" y="3264666"/>
            <a:ext cx="5984436" cy="1078396"/>
          </a:xfrm>
          <a:prstGeom prst="roundRect">
            <a:avLst>
              <a:gd name="adj" fmla="val 6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F2F5FA"/>
                </a:solidFill>
                <a:latin typeface="Arial"/>
              </a:rPr>
              <a:t>🧠  AI + BEHAVIORAL ANALYSIS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8B817D9-5B4D-35DF-0CC4-DE2E85CB02F1}"/>
              </a:ext>
            </a:extLst>
          </p:cNvPr>
          <p:cNvSpPr txBox="1"/>
          <p:nvPr/>
        </p:nvSpPr>
        <p:spPr>
          <a:xfrm>
            <a:off x="1651818" y="4069158"/>
            <a:ext cx="4424517" cy="2164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endParaRPr sz="1400" b="0" i="0" dirty="0">
              <a:solidFill>
                <a:srgbClr val="35D6F0"/>
              </a:solidFill>
              <a:latin typeface="Arial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900E35CC-601F-397E-A993-74D8DF441358}"/>
              </a:ext>
            </a:extLst>
          </p:cNvPr>
          <p:cNvSpPr/>
          <p:nvPr/>
        </p:nvSpPr>
        <p:spPr>
          <a:xfrm>
            <a:off x="432646" y="4770429"/>
            <a:ext cx="5984436" cy="1078396"/>
          </a:xfrm>
          <a:prstGeom prst="roundRect">
            <a:avLst>
              <a:gd name="adj" fmla="val 6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🎯  RISK SCORE 0–100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9E101A80-8D57-37A5-2FC9-42284F0880CD}"/>
              </a:ext>
            </a:extLst>
          </p:cNvPr>
          <p:cNvSpPr txBox="1"/>
          <p:nvPr/>
        </p:nvSpPr>
        <p:spPr>
          <a:xfrm>
            <a:off x="15725986" y="5268915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35D6F0"/>
                </a:solidFill>
                <a:latin typeface="Arial"/>
              </a:rPr>
              <a:t>↓</a:t>
            </a: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D2203699-831C-9537-EBF5-F1A7E60A0C35}"/>
              </a:ext>
            </a:extLst>
          </p:cNvPr>
          <p:cNvSpPr/>
          <p:nvPr/>
        </p:nvSpPr>
        <p:spPr>
          <a:xfrm>
            <a:off x="432646" y="6240913"/>
            <a:ext cx="5984436" cy="1078396"/>
          </a:xfrm>
          <a:prstGeom prst="roundRect">
            <a:avLst>
              <a:gd name="adj" fmla="val 6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💡  EXPLANATION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3ADD1BFB-6330-9D29-436E-EEE67D3996B2}"/>
              </a:ext>
            </a:extLst>
          </p:cNvPr>
          <p:cNvSpPr txBox="1"/>
          <p:nvPr/>
        </p:nvSpPr>
        <p:spPr>
          <a:xfrm>
            <a:off x="15725986" y="6183315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35D6F0"/>
                </a:solidFill>
                <a:latin typeface="Arial"/>
              </a:rPr>
              <a:t>↓</a:t>
            </a:r>
          </a:p>
        </p:txBody>
      </p:sp>
      <p:sp>
        <p:nvSpPr>
          <p:cNvPr id="11" name="Rounded Rectangle 13">
            <a:extLst>
              <a:ext uri="{FF2B5EF4-FFF2-40B4-BE49-F238E27FC236}">
                <a16:creationId xmlns:a16="http://schemas.microsoft.com/office/drawing/2014/main" id="{70956389-5C49-1420-49C4-7CCD80CF8CA6}"/>
              </a:ext>
            </a:extLst>
          </p:cNvPr>
          <p:cNvSpPr/>
          <p:nvPr/>
        </p:nvSpPr>
        <p:spPr>
          <a:xfrm>
            <a:off x="432646" y="7727128"/>
            <a:ext cx="5984436" cy="1078396"/>
          </a:xfrm>
          <a:prstGeom prst="roundRect">
            <a:avLst>
              <a:gd name="adj" fmla="val 6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77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35D6F0"/>
                </a:solidFill>
                <a:latin typeface="Arial"/>
              </a:rPr>
              <a:t>🚨  PRIORITIZED ALERT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9D8A2E-848A-7ED2-D191-B6D7C8C0AFAE}"/>
              </a:ext>
            </a:extLst>
          </p:cNvPr>
          <p:cNvCxnSpPr>
            <a:endCxn id="5" idx="0"/>
          </p:cNvCxnSpPr>
          <p:nvPr/>
        </p:nvCxnSpPr>
        <p:spPr>
          <a:xfrm>
            <a:off x="3411363" y="2799344"/>
            <a:ext cx="13500" cy="46532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0A43F4-C52B-2C1B-A045-6AC8802D893D}"/>
              </a:ext>
            </a:extLst>
          </p:cNvPr>
          <p:cNvCxnSpPr/>
          <p:nvPr/>
        </p:nvCxnSpPr>
        <p:spPr>
          <a:xfrm>
            <a:off x="3424863" y="4324085"/>
            <a:ext cx="13500" cy="46532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6F2A402-3ED0-F21E-F27C-DFA273D02BB3}"/>
              </a:ext>
            </a:extLst>
          </p:cNvPr>
          <p:cNvCxnSpPr/>
          <p:nvPr/>
        </p:nvCxnSpPr>
        <p:spPr>
          <a:xfrm>
            <a:off x="3438363" y="5772416"/>
            <a:ext cx="13500" cy="46532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B4E04E-14EB-39F7-8740-683ECA4440C0}"/>
              </a:ext>
            </a:extLst>
          </p:cNvPr>
          <p:cNvCxnSpPr/>
          <p:nvPr/>
        </p:nvCxnSpPr>
        <p:spPr>
          <a:xfrm>
            <a:off x="3424863" y="7284381"/>
            <a:ext cx="13500" cy="46532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A2D7FAC-EE6F-7983-62C3-ACE360E61A46}"/>
              </a:ext>
            </a:extLst>
          </p:cNvPr>
          <p:cNvSpPr txBox="1"/>
          <p:nvPr/>
        </p:nvSpPr>
        <p:spPr>
          <a:xfrm>
            <a:off x="7828143" y="2058832"/>
            <a:ext cx="81513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err="1"/>
              <a:t>FraudScope</a:t>
            </a:r>
            <a:r>
              <a:rPr lang="en-IN" sz="3200" b="1" dirty="0"/>
              <a:t> compares a transaction with the customer's historical </a:t>
            </a:r>
            <a:r>
              <a:rPr lang="en-IN" sz="3200" b="1" dirty="0" err="1"/>
              <a:t>behavior</a:t>
            </a:r>
            <a:r>
              <a:rPr lang="en-IN" sz="3200" b="1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6B276EC-9C1C-07A0-F440-F0C26DF8C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724D3CE9-85BF-1731-FEAD-BEBD7260D6EF}"/>
              </a:ext>
            </a:extLst>
          </p:cNvPr>
          <p:cNvSpPr/>
          <p:nvPr/>
        </p:nvSpPr>
        <p:spPr>
          <a:xfrm>
            <a:off x="0" y="1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 extrusionOk="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1" name="Google Shape;111;p4">
            <a:extLst>
              <a:ext uri="{FF2B5EF4-FFF2-40B4-BE49-F238E27FC236}">
                <a16:creationId xmlns:a16="http://schemas.microsoft.com/office/drawing/2014/main" id="{B0A722B2-34CB-BC14-0869-ECB285143FE2}"/>
              </a:ext>
            </a:extLst>
          </p:cNvPr>
          <p:cNvGrpSpPr/>
          <p:nvPr/>
        </p:nvGrpSpPr>
        <p:grpSpPr>
          <a:xfrm>
            <a:off x="-1783802" y="171451"/>
            <a:ext cx="18771419" cy="1900932"/>
            <a:chOff x="-3082959" y="0"/>
            <a:chExt cx="25028559" cy="2534577"/>
          </a:xfrm>
        </p:grpSpPr>
        <p:sp>
          <p:nvSpPr>
            <p:cNvPr id="112" name="Google Shape;112;p4">
              <a:extLst>
                <a:ext uri="{FF2B5EF4-FFF2-40B4-BE49-F238E27FC236}">
                  <a16:creationId xmlns:a16="http://schemas.microsoft.com/office/drawing/2014/main" id="{0C06CDA8-281B-86CF-DF6E-DAE79F38161A}"/>
                </a:ext>
              </a:extLst>
            </p:cNvPr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37056" b="-137056"/>
              </a:stretch>
            </a:blipFill>
            <a:ln>
              <a:noFill/>
            </a:ln>
          </p:spPr>
        </p:sp>
        <p:sp>
          <p:nvSpPr>
            <p:cNvPr id="113" name="Google Shape;113;p4">
              <a:extLst>
                <a:ext uri="{FF2B5EF4-FFF2-40B4-BE49-F238E27FC236}">
                  <a16:creationId xmlns:a16="http://schemas.microsoft.com/office/drawing/2014/main" id="{8A251448-AA5C-77F5-309A-90667E192B6F}"/>
                </a:ext>
              </a:extLst>
            </p:cNvPr>
            <p:cNvSpPr txBox="1"/>
            <p:nvPr/>
          </p:nvSpPr>
          <p:spPr>
            <a:xfrm>
              <a:off x="-3082959" y="220002"/>
              <a:ext cx="14055759" cy="2314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 algn="ctr"/>
              <a:r>
                <a:rPr lang="en-US" sz="5400" dirty="0"/>
                <a:t>ARCHITECTURE</a:t>
              </a:r>
              <a:endParaRPr lang="en-US" dirty="0"/>
            </a:p>
          </p:txBody>
        </p:sp>
      </p:grpSp>
      <p:sp>
        <p:nvSpPr>
          <p:cNvPr id="115" name="Google Shape;115;p4">
            <a:extLst>
              <a:ext uri="{FF2B5EF4-FFF2-40B4-BE49-F238E27FC236}">
                <a16:creationId xmlns:a16="http://schemas.microsoft.com/office/drawing/2014/main" id="{29945923-035C-DD02-CEE1-8654CD72DD58}"/>
              </a:ext>
            </a:extLst>
          </p:cNvPr>
          <p:cNvSpPr/>
          <p:nvPr/>
        </p:nvSpPr>
        <p:spPr>
          <a:xfrm>
            <a:off x="14094588" y="336452"/>
            <a:ext cx="4183695" cy="1384496"/>
          </a:xfrm>
          <a:custGeom>
            <a:avLst/>
            <a:gdLst/>
            <a:ahLst/>
            <a:cxnLst/>
            <a:rect l="l" t="t" r="r" b="b"/>
            <a:pathLst>
              <a:path w="4183695" h="1384496" extrusionOk="0">
                <a:moveTo>
                  <a:pt x="0" y="0"/>
                </a:moveTo>
                <a:lnTo>
                  <a:pt x="4183695" y="0"/>
                </a:lnTo>
                <a:lnTo>
                  <a:pt x="4183695" y="1384496"/>
                </a:lnTo>
                <a:lnTo>
                  <a:pt x="0" y="138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0657" t="-130613" r="-9473" b="-132403"/>
            </a:stretch>
          </a:blipFill>
          <a:ln>
            <a:noFill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C834FF-CFD9-B16B-8D97-9D40A620911C}"/>
              </a:ext>
            </a:extLst>
          </p:cNvPr>
          <p:cNvSpPr txBox="1"/>
          <p:nvPr/>
        </p:nvSpPr>
        <p:spPr>
          <a:xfrm>
            <a:off x="6718092" y="7842354"/>
            <a:ext cx="2458387" cy="86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 descr="architecture">
            <a:extLst>
              <a:ext uri="{FF2B5EF4-FFF2-40B4-BE49-F238E27FC236}">
                <a16:creationId xmlns:a16="http://schemas.microsoft.com/office/drawing/2014/main" id="{BFCCC7F1-8A47-E61F-8106-9372EA2F1B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9709" y="2811040"/>
            <a:ext cx="18297992" cy="429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63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/>
          <p:nvPr/>
        </p:nvSpPr>
        <p:spPr>
          <a:xfrm>
            <a:off x="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78283" h="10287000" extrusionOk="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IN" dirty="0"/>
          </a:p>
        </p:txBody>
      </p:sp>
      <p:sp>
        <p:nvSpPr>
          <p:cNvPr id="104" name="Google Shape;104;p3"/>
          <p:cNvSpPr/>
          <p:nvPr/>
        </p:nvSpPr>
        <p:spPr>
          <a:xfrm>
            <a:off x="14094588" y="336452"/>
            <a:ext cx="4183695" cy="1384496"/>
          </a:xfrm>
          <a:custGeom>
            <a:avLst/>
            <a:gdLst/>
            <a:ahLst/>
            <a:cxnLst/>
            <a:rect l="l" t="t" r="r" b="b"/>
            <a:pathLst>
              <a:path w="4183695" h="1384496" extrusionOk="0">
                <a:moveTo>
                  <a:pt x="0" y="0"/>
                </a:moveTo>
                <a:lnTo>
                  <a:pt x="4183695" y="0"/>
                </a:lnTo>
                <a:lnTo>
                  <a:pt x="4183695" y="1384496"/>
                </a:lnTo>
                <a:lnTo>
                  <a:pt x="0" y="138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0657" t="-130613" r="-9473" b="-132403"/>
            </a:stretch>
          </a:blipFill>
          <a:ln>
            <a:noFill/>
          </a:ln>
        </p:spPr>
      </p:sp>
      <p:sp>
        <p:nvSpPr>
          <p:cNvPr id="105" name="Google Shape;105;p3"/>
          <p:cNvSpPr txBox="1"/>
          <p:nvPr/>
        </p:nvSpPr>
        <p:spPr>
          <a:xfrm>
            <a:off x="-1093902" y="737833"/>
            <a:ext cx="8141196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Technology Stack</a:t>
            </a:r>
            <a:endParaRPr sz="40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DBA8172-500C-AE20-7087-2CF8B2C16102}"/>
              </a:ext>
            </a:extLst>
          </p:cNvPr>
          <p:cNvSpPr txBox="1"/>
          <p:nvPr/>
        </p:nvSpPr>
        <p:spPr>
          <a:xfrm>
            <a:off x="794057" y="7815681"/>
            <a:ext cx="1548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React 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7A2F834-569C-D952-C339-E7793BC7BCF2}"/>
              </a:ext>
            </a:extLst>
          </p:cNvPr>
          <p:cNvSpPr txBox="1"/>
          <p:nvPr/>
        </p:nvSpPr>
        <p:spPr>
          <a:xfrm>
            <a:off x="5075860" y="7773165"/>
            <a:ext cx="15482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</a:rPr>
              <a:t> mongo DB</a:t>
            </a:r>
          </a:p>
        </p:txBody>
      </p:sp>
      <p:sp>
        <p:nvSpPr>
          <p:cNvPr id="3" name="Rounded Rectangle 23">
            <a:extLst>
              <a:ext uri="{FF2B5EF4-FFF2-40B4-BE49-F238E27FC236}">
                <a16:creationId xmlns:a16="http://schemas.microsoft.com/office/drawing/2014/main" id="{4D14F1B0-C98C-063D-78EC-05840417A97E}"/>
              </a:ext>
            </a:extLst>
          </p:cNvPr>
          <p:cNvSpPr/>
          <p:nvPr/>
        </p:nvSpPr>
        <p:spPr>
          <a:xfrm>
            <a:off x="139828" y="1914829"/>
            <a:ext cx="2240280" cy="1007012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solidFill>
                  <a:srgbClr val="F2F5FA"/>
                </a:solidFill>
                <a:latin typeface="Arial"/>
              </a:rPr>
              <a:t>Python</a:t>
            </a:r>
          </a:p>
        </p:txBody>
      </p:sp>
      <p:sp>
        <p:nvSpPr>
          <p:cNvPr id="6" name="Rounded Rectangle 24">
            <a:extLst>
              <a:ext uri="{FF2B5EF4-FFF2-40B4-BE49-F238E27FC236}">
                <a16:creationId xmlns:a16="http://schemas.microsoft.com/office/drawing/2014/main" id="{7A5B0840-1274-894B-4AAF-B6A9471CC8F4}"/>
              </a:ext>
            </a:extLst>
          </p:cNvPr>
          <p:cNvSpPr/>
          <p:nvPr/>
        </p:nvSpPr>
        <p:spPr>
          <a:xfrm>
            <a:off x="2721976" y="1883177"/>
            <a:ext cx="2240280" cy="1007012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solidFill>
                  <a:srgbClr val="F2F5FA"/>
                </a:solidFill>
                <a:latin typeface="Arial"/>
              </a:rPr>
              <a:t>Pandas</a:t>
            </a:r>
          </a:p>
        </p:txBody>
      </p:sp>
      <p:sp>
        <p:nvSpPr>
          <p:cNvPr id="7" name="Rounded Rectangle 25">
            <a:extLst>
              <a:ext uri="{FF2B5EF4-FFF2-40B4-BE49-F238E27FC236}">
                <a16:creationId xmlns:a16="http://schemas.microsoft.com/office/drawing/2014/main" id="{A85F38FB-1EE8-F589-E9E5-7120D30BE451}"/>
              </a:ext>
            </a:extLst>
          </p:cNvPr>
          <p:cNvSpPr/>
          <p:nvPr/>
        </p:nvSpPr>
        <p:spPr>
          <a:xfrm>
            <a:off x="5304124" y="1883177"/>
            <a:ext cx="2240280" cy="1007012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F2F5FA"/>
                </a:solidFill>
                <a:latin typeface="Arial"/>
              </a:rPr>
              <a:t>NumPy</a:t>
            </a:r>
          </a:p>
        </p:txBody>
      </p:sp>
      <p:sp>
        <p:nvSpPr>
          <p:cNvPr id="9" name="Rounded Rectangle 26">
            <a:extLst>
              <a:ext uri="{FF2B5EF4-FFF2-40B4-BE49-F238E27FC236}">
                <a16:creationId xmlns:a16="http://schemas.microsoft.com/office/drawing/2014/main" id="{1DFF38B3-064E-9975-F0EB-D8FB55E357C8}"/>
              </a:ext>
            </a:extLst>
          </p:cNvPr>
          <p:cNvSpPr/>
          <p:nvPr/>
        </p:nvSpPr>
        <p:spPr>
          <a:xfrm>
            <a:off x="7939848" y="1883177"/>
            <a:ext cx="2240280" cy="1007012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F2F5FA"/>
                </a:solidFill>
                <a:latin typeface="Arial"/>
              </a:rPr>
              <a:t>Scikit-learn</a:t>
            </a:r>
          </a:p>
        </p:txBody>
      </p:sp>
      <p:sp>
        <p:nvSpPr>
          <p:cNvPr id="11" name="Rounded Rectangle 27">
            <a:extLst>
              <a:ext uri="{FF2B5EF4-FFF2-40B4-BE49-F238E27FC236}">
                <a16:creationId xmlns:a16="http://schemas.microsoft.com/office/drawing/2014/main" id="{57FFAA25-13D5-52DC-1F9E-DE88001787A3}"/>
              </a:ext>
            </a:extLst>
          </p:cNvPr>
          <p:cNvSpPr/>
          <p:nvPr/>
        </p:nvSpPr>
        <p:spPr>
          <a:xfrm>
            <a:off x="10575572" y="1883177"/>
            <a:ext cx="2240280" cy="1007012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F2F5FA"/>
                </a:solidFill>
                <a:latin typeface="Arial"/>
              </a:rPr>
              <a:t>Matplotlib</a:t>
            </a:r>
          </a:p>
        </p:txBody>
      </p:sp>
      <p:sp>
        <p:nvSpPr>
          <p:cNvPr id="14" name="Rounded Rectangle 28">
            <a:extLst>
              <a:ext uri="{FF2B5EF4-FFF2-40B4-BE49-F238E27FC236}">
                <a16:creationId xmlns:a16="http://schemas.microsoft.com/office/drawing/2014/main" id="{5D43855C-2214-49D2-DAF0-0319E0A49323}"/>
              </a:ext>
            </a:extLst>
          </p:cNvPr>
          <p:cNvSpPr/>
          <p:nvPr/>
        </p:nvSpPr>
        <p:spPr>
          <a:xfrm>
            <a:off x="13157720" y="1914829"/>
            <a:ext cx="2240280" cy="1007012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F2F5FA"/>
                </a:solidFill>
                <a:latin typeface="Arial"/>
              </a:rPr>
              <a:t>Streamlit</a:t>
            </a:r>
          </a:p>
        </p:txBody>
      </p:sp>
      <p:sp>
        <p:nvSpPr>
          <p:cNvPr id="16" name="Rounded Rectangle 29">
            <a:extLst>
              <a:ext uri="{FF2B5EF4-FFF2-40B4-BE49-F238E27FC236}">
                <a16:creationId xmlns:a16="http://schemas.microsoft.com/office/drawing/2014/main" id="{BD09542E-29FD-52E8-DE00-BCE0DA6890C6}"/>
              </a:ext>
            </a:extLst>
          </p:cNvPr>
          <p:cNvSpPr/>
          <p:nvPr/>
        </p:nvSpPr>
        <p:spPr>
          <a:xfrm>
            <a:off x="15739868" y="1914829"/>
            <a:ext cx="2240280" cy="1007012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>
                <a:solidFill>
                  <a:srgbClr val="F2F5FA"/>
                </a:solidFill>
                <a:latin typeface="Arial"/>
              </a:rPr>
              <a:t>React</a:t>
            </a:r>
          </a:p>
        </p:txBody>
      </p:sp>
      <p:sp>
        <p:nvSpPr>
          <p:cNvPr id="18" name="Rounded Rectangle 30">
            <a:extLst>
              <a:ext uri="{FF2B5EF4-FFF2-40B4-BE49-F238E27FC236}">
                <a16:creationId xmlns:a16="http://schemas.microsoft.com/office/drawing/2014/main" id="{850DCA8E-6255-49F9-E02D-8DA09A082BA7}"/>
              </a:ext>
            </a:extLst>
          </p:cNvPr>
          <p:cNvSpPr/>
          <p:nvPr/>
        </p:nvSpPr>
        <p:spPr>
          <a:xfrm>
            <a:off x="139828" y="3252613"/>
            <a:ext cx="2240280" cy="1007012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solidFill>
                  <a:srgbClr val="F2F5FA"/>
                </a:solidFill>
                <a:latin typeface="Arial"/>
              </a:rPr>
              <a:t>Node.js</a:t>
            </a:r>
          </a:p>
        </p:txBody>
      </p:sp>
      <p:sp>
        <p:nvSpPr>
          <p:cNvPr id="20" name="Rounded Rectangle 31">
            <a:extLst>
              <a:ext uri="{FF2B5EF4-FFF2-40B4-BE49-F238E27FC236}">
                <a16:creationId xmlns:a16="http://schemas.microsoft.com/office/drawing/2014/main" id="{7FA81E40-3ABD-80F0-0F8D-80231FA363F2}"/>
              </a:ext>
            </a:extLst>
          </p:cNvPr>
          <p:cNvSpPr/>
          <p:nvPr/>
        </p:nvSpPr>
        <p:spPr>
          <a:xfrm>
            <a:off x="2648712" y="3196385"/>
            <a:ext cx="2240280" cy="1007012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solidFill>
                  <a:srgbClr val="F2F5FA"/>
                </a:solidFill>
                <a:latin typeface="Arial"/>
              </a:rPr>
              <a:t>Express.js</a:t>
            </a:r>
          </a:p>
        </p:txBody>
      </p:sp>
      <p:sp>
        <p:nvSpPr>
          <p:cNvPr id="70" name="Rounded Rectangle 5">
            <a:extLst>
              <a:ext uri="{FF2B5EF4-FFF2-40B4-BE49-F238E27FC236}">
                <a16:creationId xmlns:a16="http://schemas.microsoft.com/office/drawing/2014/main" id="{31045251-7664-C837-4FBC-66206E70A575}"/>
              </a:ext>
            </a:extLst>
          </p:cNvPr>
          <p:cNvSpPr/>
          <p:nvPr/>
        </p:nvSpPr>
        <p:spPr>
          <a:xfrm>
            <a:off x="90044" y="5391672"/>
            <a:ext cx="2414880" cy="1212748"/>
          </a:xfrm>
          <a:prstGeom prst="roundRect">
            <a:avLst>
              <a:gd name="adj" fmla="val 12000"/>
            </a:avLst>
          </a:prstGeom>
          <a:solidFill>
            <a:schemeClr val="accent5">
              <a:lumMod val="50000"/>
            </a:schemeClr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F2F5FA"/>
                </a:solidFill>
                <a:latin typeface="Arial"/>
              </a:rPr>
              <a:t>RAW TRANSACTION
DATA</a:t>
            </a:r>
          </a:p>
        </p:txBody>
      </p:sp>
      <p:sp>
        <p:nvSpPr>
          <p:cNvPr id="71" name="Rounded Rectangle 7">
            <a:extLst>
              <a:ext uri="{FF2B5EF4-FFF2-40B4-BE49-F238E27FC236}">
                <a16:creationId xmlns:a16="http://schemas.microsoft.com/office/drawing/2014/main" id="{1718B179-FB48-A2BF-A8B9-26FF24240542}"/>
              </a:ext>
            </a:extLst>
          </p:cNvPr>
          <p:cNvSpPr/>
          <p:nvPr/>
        </p:nvSpPr>
        <p:spPr>
          <a:xfrm>
            <a:off x="2674157" y="5351719"/>
            <a:ext cx="2414880" cy="1212748"/>
          </a:xfrm>
          <a:prstGeom prst="roundRect">
            <a:avLst>
              <a:gd name="adj" fmla="val 12000"/>
            </a:avLst>
          </a:prstGeom>
          <a:solidFill>
            <a:schemeClr val="accent5">
              <a:lumMod val="50000"/>
            </a:schemeClr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F2F5FA"/>
                </a:solidFill>
                <a:latin typeface="Arial"/>
              </a:rPr>
              <a:t>DATA
PREPROCESSING</a:t>
            </a:r>
          </a:p>
        </p:txBody>
      </p:sp>
      <p:sp>
        <p:nvSpPr>
          <p:cNvPr id="72" name="Rounded Rectangle 9">
            <a:extLst>
              <a:ext uri="{FF2B5EF4-FFF2-40B4-BE49-F238E27FC236}">
                <a16:creationId xmlns:a16="http://schemas.microsoft.com/office/drawing/2014/main" id="{811C6616-FA25-4E4D-FC1A-BF37881534CD}"/>
              </a:ext>
            </a:extLst>
          </p:cNvPr>
          <p:cNvSpPr/>
          <p:nvPr/>
        </p:nvSpPr>
        <p:spPr>
          <a:xfrm>
            <a:off x="5258270" y="5295429"/>
            <a:ext cx="2414880" cy="1212748"/>
          </a:xfrm>
          <a:prstGeom prst="roundRect">
            <a:avLst>
              <a:gd name="adj" fmla="val 12000"/>
            </a:avLst>
          </a:prstGeom>
          <a:solidFill>
            <a:schemeClr val="accent5">
              <a:lumMod val="50000"/>
            </a:schemeClr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 dirty="0">
                <a:solidFill>
                  <a:srgbClr val="F2F5FA"/>
                </a:solidFill>
                <a:latin typeface="Arial"/>
              </a:rPr>
              <a:t>FEATURE
ENGINEERING</a:t>
            </a:r>
          </a:p>
        </p:txBody>
      </p:sp>
      <p:sp>
        <p:nvSpPr>
          <p:cNvPr id="74" name="Rounded Rectangle 11">
            <a:extLst>
              <a:ext uri="{FF2B5EF4-FFF2-40B4-BE49-F238E27FC236}">
                <a16:creationId xmlns:a16="http://schemas.microsoft.com/office/drawing/2014/main" id="{41A8F4DB-8054-9544-0CE6-EF7429C941B1}"/>
              </a:ext>
            </a:extLst>
          </p:cNvPr>
          <p:cNvSpPr/>
          <p:nvPr/>
        </p:nvSpPr>
        <p:spPr>
          <a:xfrm>
            <a:off x="7888005" y="5314593"/>
            <a:ext cx="2414880" cy="1212748"/>
          </a:xfrm>
          <a:prstGeom prst="roundRect">
            <a:avLst>
              <a:gd name="adj" fmla="val 12000"/>
            </a:avLst>
          </a:prstGeom>
          <a:solidFill>
            <a:schemeClr val="accent5">
              <a:lumMod val="50000"/>
            </a:schemeClr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F2F5FA"/>
                </a:solidFill>
                <a:latin typeface="Arial"/>
              </a:rPr>
              <a:t>ML MODEL</a:t>
            </a:r>
          </a:p>
        </p:txBody>
      </p:sp>
      <p:sp>
        <p:nvSpPr>
          <p:cNvPr id="77" name="Rounded Rectangle 13">
            <a:extLst>
              <a:ext uri="{FF2B5EF4-FFF2-40B4-BE49-F238E27FC236}">
                <a16:creationId xmlns:a16="http://schemas.microsoft.com/office/drawing/2014/main" id="{35B44EFF-946B-7DE8-ADB8-8FA1047414B3}"/>
              </a:ext>
            </a:extLst>
          </p:cNvPr>
          <p:cNvSpPr/>
          <p:nvPr/>
        </p:nvSpPr>
        <p:spPr>
          <a:xfrm>
            <a:off x="10559186" y="5314593"/>
            <a:ext cx="2414880" cy="1212748"/>
          </a:xfrm>
          <a:prstGeom prst="roundRect">
            <a:avLst>
              <a:gd name="adj" fmla="val 12000"/>
            </a:avLst>
          </a:prstGeom>
          <a:solidFill>
            <a:schemeClr val="accent5">
              <a:lumMod val="50000"/>
            </a:schemeClr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F2F5FA"/>
                </a:solidFill>
                <a:latin typeface="Arial"/>
              </a:rPr>
              <a:t>FRAUD
PROBABILITY</a:t>
            </a:r>
          </a:p>
        </p:txBody>
      </p:sp>
      <p:sp>
        <p:nvSpPr>
          <p:cNvPr id="79" name="Rounded Rectangle 15">
            <a:extLst>
              <a:ext uri="{FF2B5EF4-FFF2-40B4-BE49-F238E27FC236}">
                <a16:creationId xmlns:a16="http://schemas.microsoft.com/office/drawing/2014/main" id="{D1024703-08FB-914B-8655-B08A4EA3A49C}"/>
              </a:ext>
            </a:extLst>
          </p:cNvPr>
          <p:cNvSpPr/>
          <p:nvPr/>
        </p:nvSpPr>
        <p:spPr>
          <a:xfrm>
            <a:off x="15736816" y="5314593"/>
            <a:ext cx="2452128" cy="1212748"/>
          </a:xfrm>
          <a:prstGeom prst="roundRect">
            <a:avLst>
              <a:gd name="adj" fmla="val 12000"/>
            </a:avLst>
          </a:prstGeom>
          <a:solidFill>
            <a:schemeClr val="accent5">
              <a:lumMod val="50000"/>
            </a:schemeClr>
          </a:solidFill>
          <a:ln w="9525">
            <a:solidFill>
              <a:srgbClr val="35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F2F5FA"/>
                </a:solidFill>
                <a:latin typeface="Arial"/>
              </a:rPr>
              <a:t>BEHAVIORAL RISK
ANALYSIS</a:t>
            </a:r>
          </a:p>
        </p:txBody>
      </p:sp>
      <p:sp>
        <p:nvSpPr>
          <p:cNvPr id="80" name="Rounded Rectangle 17">
            <a:extLst>
              <a:ext uri="{FF2B5EF4-FFF2-40B4-BE49-F238E27FC236}">
                <a16:creationId xmlns:a16="http://schemas.microsoft.com/office/drawing/2014/main" id="{23BE2CB4-2C53-7A71-A739-F8A62A6DF307}"/>
              </a:ext>
            </a:extLst>
          </p:cNvPr>
          <p:cNvSpPr/>
          <p:nvPr/>
        </p:nvSpPr>
        <p:spPr>
          <a:xfrm>
            <a:off x="15757414" y="7118610"/>
            <a:ext cx="2452128" cy="1212748"/>
          </a:xfrm>
          <a:prstGeom prst="roundRect">
            <a:avLst>
              <a:gd name="adj" fmla="val 12000"/>
            </a:avLst>
          </a:prstGeom>
          <a:solidFill>
            <a:schemeClr val="accent5">
              <a:lumMod val="50000"/>
            </a:schemeClr>
          </a:solidFill>
          <a:ln w="9525">
            <a:solidFill>
              <a:srgbClr val="35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F2F5FA"/>
                </a:solidFill>
                <a:latin typeface="Arial"/>
              </a:rPr>
              <a:t>RISK ENGINE</a:t>
            </a:r>
          </a:p>
        </p:txBody>
      </p:sp>
      <p:sp>
        <p:nvSpPr>
          <p:cNvPr id="82" name="Rounded Rectangle 19">
            <a:extLst>
              <a:ext uri="{FF2B5EF4-FFF2-40B4-BE49-F238E27FC236}">
                <a16:creationId xmlns:a16="http://schemas.microsoft.com/office/drawing/2014/main" id="{C833D923-A5EA-4A3E-F045-7D5CF78DB177}"/>
              </a:ext>
            </a:extLst>
          </p:cNvPr>
          <p:cNvSpPr/>
          <p:nvPr/>
        </p:nvSpPr>
        <p:spPr>
          <a:xfrm>
            <a:off x="13157720" y="7118610"/>
            <a:ext cx="2452128" cy="1212748"/>
          </a:xfrm>
          <a:prstGeom prst="roundRect">
            <a:avLst>
              <a:gd name="adj" fmla="val 12000"/>
            </a:avLst>
          </a:prstGeom>
          <a:solidFill>
            <a:schemeClr val="accent5">
              <a:lumMod val="50000"/>
            </a:schemeClr>
          </a:solidFill>
          <a:ln w="9525">
            <a:solidFill>
              <a:srgbClr val="35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F2F5FA"/>
                </a:solidFill>
                <a:latin typeface="Arial"/>
              </a:rPr>
              <a:t>0–100 RISK
SCORE</a:t>
            </a:r>
          </a:p>
        </p:txBody>
      </p:sp>
      <p:sp>
        <p:nvSpPr>
          <p:cNvPr id="85" name="Rounded Rectangle 21">
            <a:extLst>
              <a:ext uri="{FF2B5EF4-FFF2-40B4-BE49-F238E27FC236}">
                <a16:creationId xmlns:a16="http://schemas.microsoft.com/office/drawing/2014/main" id="{AB4473DF-0042-7030-F3A6-D754329F17F8}"/>
              </a:ext>
            </a:extLst>
          </p:cNvPr>
          <p:cNvSpPr/>
          <p:nvPr/>
        </p:nvSpPr>
        <p:spPr>
          <a:xfrm>
            <a:off x="13129377" y="5314593"/>
            <a:ext cx="2452128" cy="1212748"/>
          </a:xfrm>
          <a:prstGeom prst="roundRect">
            <a:avLst>
              <a:gd name="adj" fmla="val 12000"/>
            </a:avLst>
          </a:prstGeom>
          <a:solidFill>
            <a:schemeClr val="accent5">
              <a:lumMod val="50000"/>
            </a:schemeClr>
          </a:solidFill>
          <a:ln w="9525">
            <a:solidFill>
              <a:srgbClr val="35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rIns="76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600" b="1">
                <a:solidFill>
                  <a:srgbClr val="F2F5FA"/>
                </a:solidFill>
                <a:latin typeface="Arial"/>
              </a:rPr>
              <a:t>EXPLANATION
+ ALERT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27364B2-3428-FE68-15F2-9B75F1DEA4E7}"/>
              </a:ext>
            </a:extLst>
          </p:cNvPr>
          <p:cNvCxnSpPr>
            <a:endCxn id="71" idx="1"/>
          </p:cNvCxnSpPr>
          <p:nvPr/>
        </p:nvCxnSpPr>
        <p:spPr>
          <a:xfrm>
            <a:off x="2494688" y="5958093"/>
            <a:ext cx="1794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74C749A-1A59-6D6F-3CC5-06A358501DA8}"/>
              </a:ext>
            </a:extLst>
          </p:cNvPr>
          <p:cNvCxnSpPr>
            <a:cxnSpLocks/>
            <a:endCxn id="72" idx="1"/>
          </p:cNvCxnSpPr>
          <p:nvPr/>
        </p:nvCxnSpPr>
        <p:spPr>
          <a:xfrm>
            <a:off x="5075860" y="5882640"/>
            <a:ext cx="182410" cy="19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96B8812-1D0D-50E9-437E-64456BB84249}"/>
              </a:ext>
            </a:extLst>
          </p:cNvPr>
          <p:cNvCxnSpPr>
            <a:stCxn id="72" idx="3"/>
            <a:endCxn id="74" idx="1"/>
          </p:cNvCxnSpPr>
          <p:nvPr/>
        </p:nvCxnSpPr>
        <p:spPr>
          <a:xfrm>
            <a:off x="7673150" y="5901803"/>
            <a:ext cx="214855" cy="19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C88CBD2-E1CF-4ED4-778A-D441777DF079}"/>
              </a:ext>
            </a:extLst>
          </p:cNvPr>
          <p:cNvCxnSpPr>
            <a:stCxn id="74" idx="3"/>
            <a:endCxn id="77" idx="1"/>
          </p:cNvCxnSpPr>
          <p:nvPr/>
        </p:nvCxnSpPr>
        <p:spPr>
          <a:xfrm>
            <a:off x="10302885" y="5920967"/>
            <a:ext cx="256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A2B51F0-D77D-05D4-202E-DDB4A6FA84D0}"/>
              </a:ext>
            </a:extLst>
          </p:cNvPr>
          <p:cNvCxnSpPr>
            <a:stCxn id="77" idx="3"/>
            <a:endCxn id="85" idx="1"/>
          </p:cNvCxnSpPr>
          <p:nvPr/>
        </p:nvCxnSpPr>
        <p:spPr>
          <a:xfrm>
            <a:off x="12974066" y="5920967"/>
            <a:ext cx="1553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2C86491C-D2BE-5AB3-808A-B446D66BE6E3}"/>
              </a:ext>
            </a:extLst>
          </p:cNvPr>
          <p:cNvCxnSpPr>
            <a:endCxn id="79" idx="1"/>
          </p:cNvCxnSpPr>
          <p:nvPr/>
        </p:nvCxnSpPr>
        <p:spPr>
          <a:xfrm>
            <a:off x="15581505" y="5911385"/>
            <a:ext cx="155311" cy="9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B152D27-31C1-5B57-98DE-1602365D07FB}"/>
              </a:ext>
            </a:extLst>
          </p:cNvPr>
          <p:cNvCxnSpPr>
            <a:endCxn id="80" idx="0"/>
          </p:cNvCxnSpPr>
          <p:nvPr/>
        </p:nvCxnSpPr>
        <p:spPr>
          <a:xfrm>
            <a:off x="16983478" y="6564467"/>
            <a:ext cx="0" cy="55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0D91FDC-2B0D-8501-8D62-646A5140E21C}"/>
              </a:ext>
            </a:extLst>
          </p:cNvPr>
          <p:cNvCxnSpPr>
            <a:stCxn id="80" idx="1"/>
            <a:endCxn id="82" idx="3"/>
          </p:cNvCxnSpPr>
          <p:nvPr/>
        </p:nvCxnSpPr>
        <p:spPr>
          <a:xfrm flipH="1">
            <a:off x="15609848" y="7724984"/>
            <a:ext cx="1475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33">
            <a:extLst>
              <a:ext uri="{FF2B5EF4-FFF2-40B4-BE49-F238E27FC236}">
                <a16:creationId xmlns:a16="http://schemas.microsoft.com/office/drawing/2014/main" id="{D860E394-3F56-F749-8A58-A06415617DDA}"/>
              </a:ext>
            </a:extLst>
          </p:cNvPr>
          <p:cNvSpPr txBox="1"/>
          <p:nvPr/>
        </p:nvSpPr>
        <p:spPr>
          <a:xfrm>
            <a:off x="457503" y="8325433"/>
            <a:ext cx="10515600" cy="270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b="0" i="1">
                <a:solidFill>
                  <a:schemeClr val="bg2"/>
                </a:solidFill>
                <a:latin typeface="Arial"/>
              </a:rPr>
              <a:t>Working prototype — trained, evaluated, and served through an interactive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1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 extrusionOk="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1" name="Google Shape;111;p4"/>
          <p:cNvGrpSpPr/>
          <p:nvPr/>
        </p:nvGrpSpPr>
        <p:grpSpPr>
          <a:xfrm>
            <a:off x="9717" y="160734"/>
            <a:ext cx="16977900" cy="1735931"/>
            <a:chOff x="-691600" y="-14289"/>
            <a:chExt cx="22637200" cy="2314575"/>
          </a:xfrm>
        </p:grpSpPr>
        <p:sp>
          <p:nvSpPr>
            <p:cNvPr id="112" name="Google Shape;112;p4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37056" b="-137056"/>
              </a:stretch>
            </a:blipFill>
            <a:ln>
              <a:noFill/>
            </a:ln>
          </p:spPr>
        </p:sp>
        <p:sp>
          <p:nvSpPr>
            <p:cNvPr id="113" name="Google Shape;113;p4"/>
            <p:cNvSpPr txBox="1"/>
            <p:nvPr/>
          </p:nvSpPr>
          <p:spPr>
            <a:xfrm>
              <a:off x="-691600" y="-14289"/>
              <a:ext cx="14055759" cy="2314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FEASIBILITY AND VIABILITY</a:t>
              </a:r>
              <a:endParaRPr dirty="0"/>
            </a:p>
          </p:txBody>
        </p:sp>
      </p:grpSp>
      <p:sp>
        <p:nvSpPr>
          <p:cNvPr id="115" name="Google Shape;115;p4"/>
          <p:cNvSpPr/>
          <p:nvPr/>
        </p:nvSpPr>
        <p:spPr>
          <a:xfrm>
            <a:off x="14094588" y="336452"/>
            <a:ext cx="4183695" cy="1384496"/>
          </a:xfrm>
          <a:custGeom>
            <a:avLst/>
            <a:gdLst/>
            <a:ahLst/>
            <a:cxnLst/>
            <a:rect l="l" t="t" r="r" b="b"/>
            <a:pathLst>
              <a:path w="4183695" h="1384496" extrusionOk="0">
                <a:moveTo>
                  <a:pt x="0" y="0"/>
                </a:moveTo>
                <a:lnTo>
                  <a:pt x="4183695" y="0"/>
                </a:lnTo>
                <a:lnTo>
                  <a:pt x="4183695" y="1384496"/>
                </a:lnTo>
                <a:lnTo>
                  <a:pt x="0" y="138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0657" t="-130613" r="-9473" b="-132403"/>
            </a:stretch>
          </a:blipFill>
          <a:ln>
            <a:noFill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E2815-02DA-7E2C-6C0C-C05791515526}"/>
              </a:ext>
            </a:extLst>
          </p:cNvPr>
          <p:cNvSpPr txBox="1"/>
          <p:nvPr/>
        </p:nvSpPr>
        <p:spPr>
          <a:xfrm>
            <a:off x="6718092" y="7842354"/>
            <a:ext cx="2458387" cy="86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2726616-266F-269F-1E09-9F3995B93239}"/>
              </a:ext>
            </a:extLst>
          </p:cNvPr>
          <p:cNvSpPr/>
          <p:nvPr/>
        </p:nvSpPr>
        <p:spPr>
          <a:xfrm>
            <a:off x="234672" y="1920483"/>
            <a:ext cx="4301679" cy="2216249"/>
          </a:xfrm>
          <a:prstGeom prst="roundRect">
            <a:avLst>
              <a:gd name="adj" fmla="val 6000"/>
            </a:avLst>
          </a:prstGeom>
          <a:solidFill>
            <a:srgbClr val="121A2C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270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solidFill>
                  <a:srgbClr val="35D6F0"/>
                </a:solidFill>
                <a:latin typeface="Arial"/>
              </a:rPr>
              <a:t>🗃️  </a:t>
            </a:r>
            <a:r>
              <a:rPr sz="2000" b="1" dirty="0">
                <a:solidFill>
                  <a:srgbClr val="35D6F0"/>
                </a:solidFill>
                <a:latin typeface="Arial"/>
              </a:rPr>
              <a:t>DATA</a:t>
            </a:r>
            <a:endParaRPr lang="en-IN" sz="2000" b="1" dirty="0">
              <a:solidFill>
                <a:srgbClr val="35D6F0"/>
              </a:solidFill>
              <a:latin typeface="Arial"/>
            </a:endParaRPr>
          </a:p>
          <a:p>
            <a:endParaRPr sz="2000" b="1" dirty="0">
              <a:solidFill>
                <a:srgbClr val="35D6F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dirty="0">
                <a:solidFill>
                  <a:srgbClr val="F2F5FA"/>
                </a:solidFill>
                <a:latin typeface="Arial"/>
              </a:rPr>
              <a:t>•  Public/historical fraud datasets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dirty="0">
                <a:solidFill>
                  <a:srgbClr val="F2F5FA"/>
                </a:solidFill>
                <a:latin typeface="Arial"/>
              </a:rPr>
              <a:t>•  Simulated transactions</a:t>
            </a: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F6BE5F98-0C2C-0FB5-4ADC-7B9CCD37131D}"/>
              </a:ext>
            </a:extLst>
          </p:cNvPr>
          <p:cNvSpPr/>
          <p:nvPr/>
        </p:nvSpPr>
        <p:spPr>
          <a:xfrm>
            <a:off x="6688241" y="2012184"/>
            <a:ext cx="4301679" cy="2216249"/>
          </a:xfrm>
          <a:prstGeom prst="roundRect">
            <a:avLst>
              <a:gd name="adj" fmla="val 6000"/>
            </a:avLst>
          </a:prstGeom>
          <a:solidFill>
            <a:srgbClr val="121A2C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270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b="1" dirty="0">
                <a:solidFill>
                  <a:srgbClr val="35D6F0"/>
                </a:solidFill>
                <a:latin typeface="Arial"/>
              </a:rPr>
              <a:t>⚙️  TECHNOLOGY</a:t>
            </a:r>
            <a:endParaRPr lang="en-IN" sz="2000" b="1" dirty="0">
              <a:solidFill>
                <a:srgbClr val="35D6F0"/>
              </a:solidFill>
              <a:latin typeface="Arial"/>
            </a:endParaRPr>
          </a:p>
          <a:p>
            <a:endParaRPr sz="2000" b="1" dirty="0">
              <a:solidFill>
                <a:srgbClr val="35D6F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dirty="0">
                <a:solidFill>
                  <a:srgbClr val="F2F5FA"/>
                </a:solidFill>
                <a:latin typeface="Arial"/>
              </a:rPr>
              <a:t>•  Open-source Python ML tools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dirty="0">
                <a:solidFill>
                  <a:srgbClr val="F2F5FA"/>
                </a:solidFill>
                <a:latin typeface="Arial"/>
              </a:rPr>
              <a:t>•  No specialized hardware required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467426-E083-F66E-F73B-F70EF0A862A9}"/>
              </a:ext>
            </a:extLst>
          </p:cNvPr>
          <p:cNvSpPr/>
          <p:nvPr/>
        </p:nvSpPr>
        <p:spPr>
          <a:xfrm>
            <a:off x="13059447" y="1920484"/>
            <a:ext cx="4301679" cy="2216249"/>
          </a:xfrm>
          <a:prstGeom prst="roundRect">
            <a:avLst>
              <a:gd name="adj" fmla="val 6000"/>
            </a:avLst>
          </a:prstGeom>
          <a:solidFill>
            <a:srgbClr val="121A2C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152400" rIns="1270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b="1" dirty="0">
                <a:solidFill>
                  <a:srgbClr val="35D6F0"/>
                </a:solidFill>
                <a:latin typeface="Arial"/>
              </a:rPr>
              <a:t>🚀  DEPLOYMENT</a:t>
            </a:r>
            <a:endParaRPr lang="en-IN" sz="2000" b="1" dirty="0">
              <a:solidFill>
                <a:srgbClr val="35D6F0"/>
              </a:solidFill>
              <a:latin typeface="Arial"/>
            </a:endParaRPr>
          </a:p>
          <a:p>
            <a:endParaRPr sz="2000" b="1" dirty="0">
              <a:solidFill>
                <a:srgbClr val="35D6F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dirty="0">
                <a:solidFill>
                  <a:srgbClr val="F2F5FA"/>
                </a:solidFill>
                <a:latin typeface="Arial"/>
              </a:rPr>
              <a:t>•  Lightweight </a:t>
            </a:r>
            <a:r>
              <a:rPr dirty="0" err="1">
                <a:solidFill>
                  <a:srgbClr val="F2F5FA"/>
                </a:solidFill>
                <a:latin typeface="Arial"/>
              </a:rPr>
              <a:t>Streamlit</a:t>
            </a:r>
            <a:r>
              <a:rPr dirty="0">
                <a:solidFill>
                  <a:srgbClr val="F2F5FA"/>
                </a:solidFill>
                <a:latin typeface="Arial"/>
              </a:rPr>
              <a:t> prototype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dirty="0">
                <a:solidFill>
                  <a:srgbClr val="F2F5FA"/>
                </a:solidFill>
                <a:latin typeface="Arial"/>
              </a:rPr>
              <a:t>•  Future secure API integration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22546CEF-4F09-5FE1-0587-81EB3153CA23}"/>
              </a:ext>
            </a:extLst>
          </p:cNvPr>
          <p:cNvSpPr txBox="1"/>
          <p:nvPr/>
        </p:nvSpPr>
        <p:spPr>
          <a:xfrm>
            <a:off x="234672" y="4947313"/>
            <a:ext cx="6534196" cy="360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sz="2400" b="1" i="0" dirty="0">
                <a:solidFill>
                  <a:schemeClr val="bg2"/>
                </a:solidFill>
                <a:latin typeface="Arial"/>
              </a:rPr>
              <a:t>⚠️  CHALLENGES  →  🛠️  MITIGATION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8423DC96-23E2-00B8-4B39-9E65BF4FA9E4}"/>
              </a:ext>
            </a:extLst>
          </p:cNvPr>
          <p:cNvSpPr/>
          <p:nvPr/>
        </p:nvSpPr>
        <p:spPr>
          <a:xfrm>
            <a:off x="329185" y="5856910"/>
            <a:ext cx="3245317" cy="2185595"/>
          </a:xfrm>
          <a:prstGeom prst="roundRect">
            <a:avLst>
              <a:gd name="adj" fmla="val 6000"/>
            </a:avLst>
          </a:prstGeom>
          <a:solidFill>
            <a:srgbClr val="121A2C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2700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 dirty="0">
                <a:solidFill>
                  <a:srgbClr val="F25C5C"/>
                </a:solidFill>
                <a:latin typeface="Arial"/>
              </a:rPr>
              <a:t>Class Imbalance</a:t>
            </a:r>
          </a:p>
          <a:p>
            <a:pPr algn="ctr">
              <a:spcBef>
                <a:spcPts val="600"/>
              </a:spcBef>
            </a:pPr>
            <a:r>
              <a:rPr dirty="0">
                <a:solidFill>
                  <a:srgbClr val="35D6F0"/>
                </a:solidFill>
              </a:rPr>
              <a:t>↓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b="1" dirty="0">
                <a:solidFill>
                  <a:srgbClr val="3DDC97"/>
                </a:solidFill>
                <a:latin typeface="Arial"/>
              </a:rPr>
              <a:t>Precision, Recall, F1 &amp; PR-AUC</a:t>
            </a: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5398F933-B590-D1AE-9C48-8134AEA8F670}"/>
              </a:ext>
            </a:extLst>
          </p:cNvPr>
          <p:cNvSpPr/>
          <p:nvPr/>
        </p:nvSpPr>
        <p:spPr>
          <a:xfrm>
            <a:off x="4767047" y="5807309"/>
            <a:ext cx="3245317" cy="2185595"/>
          </a:xfrm>
          <a:prstGeom prst="roundRect">
            <a:avLst>
              <a:gd name="adj" fmla="val 6000"/>
            </a:avLst>
          </a:prstGeom>
          <a:solidFill>
            <a:srgbClr val="121A2C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2700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>
                <a:solidFill>
                  <a:srgbClr val="F25C5C"/>
                </a:solidFill>
                <a:latin typeface="Arial"/>
              </a:rPr>
              <a:t>False Positives</a:t>
            </a:r>
          </a:p>
          <a:p>
            <a:pPr algn="ctr">
              <a:spcBef>
                <a:spcPts val="600"/>
              </a:spcBef>
            </a:pPr>
            <a:r>
              <a:rPr>
                <a:solidFill>
                  <a:srgbClr val="35D6F0"/>
                </a:solidFill>
              </a:rPr>
              <a:t>↓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b="1">
                <a:solidFill>
                  <a:srgbClr val="3DDC97"/>
                </a:solidFill>
                <a:latin typeface="Arial"/>
              </a:rPr>
              <a:t>ML + behavioral signals</a:t>
            </a: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321B162A-3221-F226-4A0C-76D85B8E5BBC}"/>
              </a:ext>
            </a:extLst>
          </p:cNvPr>
          <p:cNvSpPr/>
          <p:nvPr/>
        </p:nvSpPr>
        <p:spPr>
          <a:xfrm>
            <a:off x="9833253" y="5856910"/>
            <a:ext cx="3245317" cy="2185595"/>
          </a:xfrm>
          <a:prstGeom prst="roundRect">
            <a:avLst>
              <a:gd name="adj" fmla="val 6000"/>
            </a:avLst>
          </a:prstGeom>
          <a:solidFill>
            <a:srgbClr val="121A2C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2700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>
                <a:solidFill>
                  <a:srgbClr val="F25C5C"/>
                </a:solidFill>
                <a:latin typeface="Arial"/>
              </a:rPr>
              <a:t>Changing Fraud Patterns</a:t>
            </a:r>
          </a:p>
          <a:p>
            <a:pPr algn="ctr">
              <a:spcBef>
                <a:spcPts val="600"/>
              </a:spcBef>
            </a:pPr>
            <a:r>
              <a:rPr>
                <a:solidFill>
                  <a:srgbClr val="35D6F0"/>
                </a:solidFill>
              </a:rPr>
              <a:t>↓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b="1">
                <a:solidFill>
                  <a:srgbClr val="3DDC97"/>
                </a:solidFill>
                <a:latin typeface="Arial"/>
              </a:rPr>
              <a:t>Continuous monitoring &amp; retraining</a:t>
            </a: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EDD4EA5D-45CC-4A75-7571-EAC99B7658D8}"/>
              </a:ext>
            </a:extLst>
          </p:cNvPr>
          <p:cNvSpPr/>
          <p:nvPr/>
        </p:nvSpPr>
        <p:spPr>
          <a:xfrm>
            <a:off x="14259658" y="5796217"/>
            <a:ext cx="3245317" cy="2185595"/>
          </a:xfrm>
          <a:prstGeom prst="roundRect">
            <a:avLst>
              <a:gd name="adj" fmla="val 6000"/>
            </a:avLst>
          </a:prstGeom>
          <a:solidFill>
            <a:srgbClr val="121A2C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tIns="127000" rIns="127000" rtlCol="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>
                <a:solidFill>
                  <a:srgbClr val="F25C5C"/>
                </a:solidFill>
                <a:latin typeface="Arial"/>
              </a:rPr>
              <a:t>Real-time Processing</a:t>
            </a:r>
          </a:p>
          <a:p>
            <a:pPr algn="ctr">
              <a:spcBef>
                <a:spcPts val="600"/>
              </a:spcBef>
            </a:pPr>
            <a:r>
              <a:rPr>
                <a:solidFill>
                  <a:srgbClr val="35D6F0"/>
                </a:solidFill>
              </a:rPr>
              <a:t>↓</a:t>
            </a:r>
          </a:p>
          <a:p>
            <a:pPr algn="ctr">
              <a:lnSpc>
                <a:spcPct val="115000"/>
              </a:lnSpc>
              <a:spcBef>
                <a:spcPts val="600"/>
              </a:spcBef>
            </a:pPr>
            <a:r>
              <a:rPr b="1">
                <a:solidFill>
                  <a:srgbClr val="3DDC97"/>
                </a:solidFill>
                <a:latin typeface="Arial"/>
              </a:rPr>
              <a:t>Future streaming infrastructure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0" y="4152"/>
            <a:ext cx="18278283" cy="10287000"/>
          </a:xfrm>
          <a:custGeom>
            <a:avLst/>
            <a:gdLst/>
            <a:ahLst/>
            <a:cxnLst/>
            <a:rect l="l" t="t" r="r" b="b"/>
            <a:pathLst>
              <a:path w="18278283" h="10287000" extrusionOk="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1" name="Google Shape;121;p5"/>
          <p:cNvGrpSpPr/>
          <p:nvPr/>
        </p:nvGrpSpPr>
        <p:grpSpPr>
          <a:xfrm>
            <a:off x="-3816146" y="60146"/>
            <a:ext cx="21075446" cy="1825804"/>
            <a:chOff x="-6154995" y="-148406"/>
            <a:chExt cx="28100595" cy="2434406"/>
          </a:xfrm>
        </p:grpSpPr>
        <p:sp>
          <p:nvSpPr>
            <p:cNvPr id="122" name="Google Shape;122;p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t="-137056" b="-137056"/>
              </a:stretch>
            </a:blipFill>
            <a:ln>
              <a:noFill/>
            </a:ln>
          </p:spPr>
        </p:sp>
        <p:sp>
          <p:nvSpPr>
            <p:cNvPr id="123" name="Google Shape;123;p5"/>
            <p:cNvSpPr txBox="1"/>
            <p:nvPr/>
          </p:nvSpPr>
          <p:spPr>
            <a:xfrm>
              <a:off x="-6154995" y="-148406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 b="1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IMPACT AND BENEFITS</a:t>
              </a:r>
              <a:endParaRPr sz="1200" dirty="0"/>
            </a:p>
          </p:txBody>
        </p:sp>
      </p:grpSp>
      <p:sp>
        <p:nvSpPr>
          <p:cNvPr id="125" name="Google Shape;125;p5"/>
          <p:cNvSpPr/>
          <p:nvPr/>
        </p:nvSpPr>
        <p:spPr>
          <a:xfrm>
            <a:off x="14094588" y="501454"/>
            <a:ext cx="4183695" cy="1384496"/>
          </a:xfrm>
          <a:custGeom>
            <a:avLst/>
            <a:gdLst/>
            <a:ahLst/>
            <a:cxnLst/>
            <a:rect l="l" t="t" r="r" b="b"/>
            <a:pathLst>
              <a:path w="4183695" h="1384496" extrusionOk="0">
                <a:moveTo>
                  <a:pt x="0" y="0"/>
                </a:moveTo>
                <a:lnTo>
                  <a:pt x="4183695" y="0"/>
                </a:lnTo>
                <a:lnTo>
                  <a:pt x="4183695" y="1384496"/>
                </a:lnTo>
                <a:lnTo>
                  <a:pt x="0" y="138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10657" t="-130613" r="-9473" b="-132403"/>
            </a:stretch>
          </a:blipFill>
          <a:ln>
            <a:noFill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E3F3681-EC47-2EB7-56A8-4431DD866527}"/>
              </a:ext>
            </a:extLst>
          </p:cNvPr>
          <p:cNvSpPr/>
          <p:nvPr/>
        </p:nvSpPr>
        <p:spPr>
          <a:xfrm>
            <a:off x="479247" y="1524600"/>
            <a:ext cx="13332846" cy="1918329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B1081-F380-009F-F550-2C968B2C9777}"/>
              </a:ext>
            </a:extLst>
          </p:cNvPr>
          <p:cNvSpPr txBox="1"/>
          <p:nvPr/>
        </p:nvSpPr>
        <p:spPr>
          <a:xfrm>
            <a:off x="800100" y="1646626"/>
            <a:ext cx="3657600" cy="3099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</a:pPr>
            <a:r>
              <a:rPr b="1" i="0" dirty="0">
                <a:solidFill>
                  <a:schemeClr val="bg2"/>
                </a:solidFill>
                <a:latin typeface="Arial Black" panose="020B0A04020102020204" pitchFamily="34" charset="0"/>
              </a:rPr>
              <a:t>TARGET</a:t>
            </a:r>
            <a:r>
              <a:rPr b="1" i="0" dirty="0">
                <a:solidFill>
                  <a:schemeClr val="bg2"/>
                </a:solidFill>
                <a:latin typeface="Arial"/>
              </a:rPr>
              <a:t> </a:t>
            </a:r>
            <a:r>
              <a:rPr sz="2000" b="1" i="0" dirty="0">
                <a:solidFill>
                  <a:schemeClr val="bg2"/>
                </a:solidFill>
                <a:latin typeface="Arial Black" panose="020B0A04020102020204" pitchFamily="34" charset="0"/>
              </a:rPr>
              <a:t>USERS</a:t>
            </a:r>
            <a:endParaRPr b="1" i="0" dirty="0">
              <a:solidFill>
                <a:schemeClr val="bg2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22F259-FEB1-EF61-A6A4-CA802AFB9384}"/>
              </a:ext>
            </a:extLst>
          </p:cNvPr>
          <p:cNvSpPr/>
          <p:nvPr/>
        </p:nvSpPr>
        <p:spPr>
          <a:xfrm>
            <a:off x="800100" y="2156665"/>
            <a:ext cx="2810256" cy="904537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>
                <a:solidFill>
                  <a:srgbClr val="F2F5FA"/>
                </a:solidFill>
                <a:latin typeface="Arial"/>
              </a:rPr>
              <a:t>🏦 Banks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ADF1CE-3DA1-6980-4CCB-332270B6A409}"/>
              </a:ext>
            </a:extLst>
          </p:cNvPr>
          <p:cNvSpPr/>
          <p:nvPr/>
        </p:nvSpPr>
        <p:spPr>
          <a:xfrm>
            <a:off x="3816834" y="2128847"/>
            <a:ext cx="2810256" cy="904537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>
                <a:solidFill>
                  <a:srgbClr val="F2F5FA"/>
                </a:solidFill>
                <a:latin typeface="Arial"/>
              </a:rPr>
              <a:t>💳 FinTech Companies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828CB13-6FFA-B4D3-CD7E-D984B9C69F80}"/>
              </a:ext>
            </a:extLst>
          </p:cNvPr>
          <p:cNvSpPr/>
          <p:nvPr/>
        </p:nvSpPr>
        <p:spPr>
          <a:xfrm>
            <a:off x="6891406" y="2108170"/>
            <a:ext cx="2810256" cy="904537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>
                <a:solidFill>
                  <a:srgbClr val="F2F5FA"/>
                </a:solidFill>
                <a:latin typeface="Arial"/>
              </a:rPr>
              <a:t>🔐 Fraud &amp; Security Teams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A93EE6-4BEF-4465-87D8-6F7347A8CECD}"/>
              </a:ext>
            </a:extLst>
          </p:cNvPr>
          <p:cNvSpPr/>
          <p:nvPr/>
        </p:nvSpPr>
        <p:spPr>
          <a:xfrm>
            <a:off x="10057933" y="2106920"/>
            <a:ext cx="2810256" cy="904537"/>
          </a:xfrm>
          <a:prstGeom prst="roundRect">
            <a:avLst>
              <a:gd name="adj" fmla="val 25000"/>
            </a:avLst>
          </a:prstGeom>
          <a:solidFill>
            <a:srgbClr val="162036"/>
          </a:solidFill>
          <a:ln w="9525">
            <a:solidFill>
              <a:srgbClr val="24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b="1" dirty="0">
                <a:solidFill>
                  <a:srgbClr val="F2F5FA"/>
                </a:solidFill>
                <a:latin typeface="Arial"/>
              </a:rPr>
              <a:t>👨‍💼 Fraud Analysts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8303D96-6798-B63F-E02F-89AFA7EAF67F}"/>
              </a:ext>
            </a:extLst>
          </p:cNvPr>
          <p:cNvSpPr txBox="1"/>
          <p:nvPr/>
        </p:nvSpPr>
        <p:spPr>
          <a:xfrm>
            <a:off x="1162051" y="3615193"/>
            <a:ext cx="3657600" cy="8735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2800" b="1" i="0" dirty="0">
                <a:solidFill>
                  <a:schemeClr val="accent6">
                    <a:lumMod val="50000"/>
                  </a:schemeClr>
                </a:solidFill>
                <a:latin typeface="Arial"/>
              </a:rPr>
              <a:t>FUTURE SCALABILITY</a:t>
            </a: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5F9FEA15-1F6F-46B6-E1A7-E008FAEC637F}"/>
              </a:ext>
            </a:extLst>
          </p:cNvPr>
          <p:cNvSpPr/>
          <p:nvPr/>
        </p:nvSpPr>
        <p:spPr>
          <a:xfrm>
            <a:off x="800101" y="4519286"/>
            <a:ext cx="4808220" cy="781170"/>
          </a:xfrm>
          <a:prstGeom prst="roundRect">
            <a:avLst>
              <a:gd name="adj" fmla="val 12000"/>
            </a:avLst>
          </a:prstGeom>
          <a:solidFill>
            <a:srgbClr val="162036"/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Prototype</a:t>
            </a:r>
          </a:p>
        </p:txBody>
      </p:sp>
      <p:sp>
        <p:nvSpPr>
          <p:cNvPr id="18" name="Rounded Rectangle 19">
            <a:extLst>
              <a:ext uri="{FF2B5EF4-FFF2-40B4-BE49-F238E27FC236}">
                <a16:creationId xmlns:a16="http://schemas.microsoft.com/office/drawing/2014/main" id="{0162FA2C-1A8A-EA8A-7F1D-F53F36186928}"/>
              </a:ext>
            </a:extLst>
          </p:cNvPr>
          <p:cNvSpPr/>
          <p:nvPr/>
        </p:nvSpPr>
        <p:spPr>
          <a:xfrm>
            <a:off x="766855" y="5420066"/>
            <a:ext cx="4808220" cy="781170"/>
          </a:xfrm>
          <a:prstGeom prst="roundRect">
            <a:avLst>
              <a:gd name="adj" fmla="val 12000"/>
            </a:avLst>
          </a:prstGeom>
          <a:solidFill>
            <a:srgbClr val="162036"/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>
                <a:solidFill>
                  <a:srgbClr val="F2F5FA"/>
                </a:solidFill>
                <a:latin typeface="Arial"/>
              </a:rPr>
              <a:t>Secure API</a:t>
            </a:r>
          </a:p>
        </p:txBody>
      </p:sp>
      <p:sp>
        <p:nvSpPr>
          <p:cNvPr id="19" name="Rounded Rectangle 21">
            <a:extLst>
              <a:ext uri="{FF2B5EF4-FFF2-40B4-BE49-F238E27FC236}">
                <a16:creationId xmlns:a16="http://schemas.microsoft.com/office/drawing/2014/main" id="{EC287ACE-55CB-1337-FB21-73E19628B942}"/>
              </a:ext>
            </a:extLst>
          </p:cNvPr>
          <p:cNvSpPr/>
          <p:nvPr/>
        </p:nvSpPr>
        <p:spPr>
          <a:xfrm>
            <a:off x="761743" y="6340876"/>
            <a:ext cx="4808220" cy="781170"/>
          </a:xfrm>
          <a:prstGeom prst="roundRect">
            <a:avLst>
              <a:gd name="adj" fmla="val 12000"/>
            </a:avLst>
          </a:prstGeom>
          <a:solidFill>
            <a:srgbClr val="162036"/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Real-Time Stream</a:t>
            </a:r>
          </a:p>
        </p:txBody>
      </p:sp>
      <p:sp>
        <p:nvSpPr>
          <p:cNvPr id="20" name="Rounded Rectangle 23">
            <a:extLst>
              <a:ext uri="{FF2B5EF4-FFF2-40B4-BE49-F238E27FC236}">
                <a16:creationId xmlns:a16="http://schemas.microsoft.com/office/drawing/2014/main" id="{7D39D3CD-9165-8C1D-6693-4235B5B4838E}"/>
              </a:ext>
            </a:extLst>
          </p:cNvPr>
          <p:cNvSpPr/>
          <p:nvPr/>
        </p:nvSpPr>
        <p:spPr>
          <a:xfrm>
            <a:off x="761743" y="7264122"/>
            <a:ext cx="4808220" cy="781170"/>
          </a:xfrm>
          <a:prstGeom prst="roundRect">
            <a:avLst>
              <a:gd name="adj" fmla="val 12000"/>
            </a:avLst>
          </a:prstGeom>
          <a:solidFill>
            <a:srgbClr val="162036"/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Bank / FinTech Integration</a:t>
            </a:r>
          </a:p>
        </p:txBody>
      </p:sp>
      <p:sp>
        <p:nvSpPr>
          <p:cNvPr id="21" name="Rounded Rectangle 25">
            <a:extLst>
              <a:ext uri="{FF2B5EF4-FFF2-40B4-BE49-F238E27FC236}">
                <a16:creationId xmlns:a16="http://schemas.microsoft.com/office/drawing/2014/main" id="{41615BE7-4F0C-00A3-FB40-72A0B70B6F45}"/>
              </a:ext>
            </a:extLst>
          </p:cNvPr>
          <p:cNvSpPr/>
          <p:nvPr/>
        </p:nvSpPr>
        <p:spPr>
          <a:xfrm>
            <a:off x="761743" y="8056347"/>
            <a:ext cx="4808220" cy="781170"/>
          </a:xfrm>
          <a:prstGeom prst="roundRect">
            <a:avLst>
              <a:gd name="adj" fmla="val 12000"/>
            </a:avLst>
          </a:prstGeom>
          <a:solidFill>
            <a:srgbClr val="162036"/>
          </a:solidFill>
          <a:ln w="9525">
            <a:solidFill>
              <a:srgbClr val="1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Large-Scale Fraud Intelligence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4337E18C-3DFB-F84B-85BB-9D1538DCBE79}"/>
              </a:ext>
            </a:extLst>
          </p:cNvPr>
          <p:cNvSpPr txBox="1"/>
          <p:nvPr/>
        </p:nvSpPr>
        <p:spPr>
          <a:xfrm>
            <a:off x="9948368" y="3747905"/>
            <a:ext cx="4323503" cy="4210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</a:pPr>
            <a:r>
              <a:rPr sz="2800" b="1" dirty="0">
                <a:solidFill>
                  <a:schemeClr val="accent6">
                    <a:lumMod val="50000"/>
                  </a:schemeClr>
                </a:solidFill>
                <a:latin typeface="Arial"/>
              </a:rPr>
              <a:t>KEY BENEFITS</a:t>
            </a:r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29FA5ECE-53ED-F448-2DDB-04BAF4D8B245}"/>
              </a:ext>
            </a:extLst>
          </p:cNvPr>
          <p:cNvSpPr/>
          <p:nvPr/>
        </p:nvSpPr>
        <p:spPr>
          <a:xfrm>
            <a:off x="6408422" y="4519286"/>
            <a:ext cx="3431860" cy="1835422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27000" tIns="76200" rIns="1016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⚡ Faster Investigation</a:t>
            </a:r>
            <a:endParaRPr lang="en-IN" sz="2000" b="1" dirty="0">
              <a:solidFill>
                <a:srgbClr val="F2F5FA"/>
              </a:solidFill>
              <a:latin typeface="Arial"/>
            </a:endParaRPr>
          </a:p>
          <a:p>
            <a:pPr algn="ctr"/>
            <a:endParaRPr sz="2000" b="1" dirty="0">
              <a:solidFill>
                <a:srgbClr val="F2F5FA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400" dirty="0">
                <a:solidFill>
                  <a:srgbClr val="93A1B8"/>
                </a:solidFill>
                <a:latin typeface="Arial"/>
              </a:rPr>
              <a:t>Prioritizes high-risk transactions for analyst review.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F1289F44-CFEF-8192-034C-D56A1BAF6DE3}"/>
              </a:ext>
            </a:extLst>
          </p:cNvPr>
          <p:cNvSpPr/>
          <p:nvPr/>
        </p:nvSpPr>
        <p:spPr>
          <a:xfrm>
            <a:off x="10372329" y="4519286"/>
            <a:ext cx="3431860" cy="1835422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27000" tIns="76200" rIns="1016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🎯 Better Risk Prioritization</a:t>
            </a:r>
            <a:endParaRPr lang="en-IN" sz="2000" b="1" dirty="0">
              <a:solidFill>
                <a:srgbClr val="F2F5FA"/>
              </a:solidFill>
              <a:latin typeface="Arial"/>
            </a:endParaRPr>
          </a:p>
          <a:p>
            <a:pPr algn="ctr"/>
            <a:endParaRPr sz="2000" b="1" dirty="0">
              <a:solidFill>
                <a:srgbClr val="F2F5FA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400" dirty="0">
                <a:solidFill>
                  <a:srgbClr val="93A1B8"/>
                </a:solidFill>
                <a:latin typeface="Arial"/>
              </a:rPr>
              <a:t>0–100 score distinguishes levels of suspicious activity.</a:t>
            </a:r>
          </a:p>
        </p:txBody>
      </p:sp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44EFBCCE-E986-EF79-0ED2-2E2967297910}"/>
              </a:ext>
            </a:extLst>
          </p:cNvPr>
          <p:cNvSpPr/>
          <p:nvPr/>
        </p:nvSpPr>
        <p:spPr>
          <a:xfrm>
            <a:off x="14325306" y="4519286"/>
            <a:ext cx="3431860" cy="1835422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27000" tIns="76200" rIns="1016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💡 Explainable Decisions</a:t>
            </a:r>
            <a:endParaRPr lang="en-IN" sz="2000" b="1" dirty="0">
              <a:solidFill>
                <a:srgbClr val="F2F5FA"/>
              </a:solidFill>
              <a:latin typeface="Arial"/>
            </a:endParaRPr>
          </a:p>
          <a:p>
            <a:pPr algn="ctr"/>
            <a:endParaRPr sz="2000" b="1" dirty="0">
              <a:solidFill>
                <a:srgbClr val="F2F5FA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400" dirty="0">
                <a:solidFill>
                  <a:srgbClr val="93A1B8"/>
                </a:solidFill>
                <a:latin typeface="Arial"/>
              </a:rPr>
              <a:t>Shows the behavioral signals behind each risk score.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2C2B5ECF-63AB-6475-801C-D5D1607E29AC}"/>
              </a:ext>
            </a:extLst>
          </p:cNvPr>
          <p:cNvSpPr/>
          <p:nvPr/>
        </p:nvSpPr>
        <p:spPr>
          <a:xfrm>
            <a:off x="6452143" y="6965497"/>
            <a:ext cx="3431860" cy="1835422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27000" tIns="76200" rIns="1016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🛡️ Improved Security</a:t>
            </a:r>
            <a:endParaRPr lang="en-IN" sz="2000" b="1" dirty="0">
              <a:solidFill>
                <a:srgbClr val="F2F5FA"/>
              </a:solidFill>
              <a:latin typeface="Arial"/>
            </a:endParaRPr>
          </a:p>
          <a:p>
            <a:pPr algn="ctr"/>
            <a:endParaRPr sz="2000" b="1" dirty="0">
              <a:solidFill>
                <a:srgbClr val="F2F5FA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400" dirty="0">
                <a:solidFill>
                  <a:srgbClr val="93A1B8"/>
                </a:solidFill>
                <a:latin typeface="Arial"/>
              </a:rPr>
              <a:t>Adds verification steps for suspicious transactions.</a:t>
            </a: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08CB0D50-4761-C9F0-A855-9BB8CA23206D}"/>
              </a:ext>
            </a:extLst>
          </p:cNvPr>
          <p:cNvSpPr/>
          <p:nvPr/>
        </p:nvSpPr>
        <p:spPr>
          <a:xfrm>
            <a:off x="10394190" y="6915550"/>
            <a:ext cx="3431860" cy="1835422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27000" tIns="76200" rIns="1016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💰 Potential Economic Impact</a:t>
            </a:r>
            <a:endParaRPr lang="en-IN" sz="2000" b="1" dirty="0">
              <a:solidFill>
                <a:srgbClr val="F2F5FA"/>
              </a:solidFill>
              <a:latin typeface="Arial"/>
            </a:endParaRPr>
          </a:p>
          <a:p>
            <a:pPr algn="ctr"/>
            <a:endParaRPr sz="2000" b="1" dirty="0">
              <a:solidFill>
                <a:srgbClr val="F2F5FA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400" dirty="0">
                <a:solidFill>
                  <a:srgbClr val="93A1B8"/>
                </a:solidFill>
                <a:latin typeface="Arial"/>
              </a:rPr>
              <a:t>Earlier detection can help reduce financial losses.</a:t>
            </a:r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D92AC553-4C60-46C3-220E-9BA9935B1B4D}"/>
              </a:ext>
            </a:extLst>
          </p:cNvPr>
          <p:cNvSpPr/>
          <p:nvPr/>
        </p:nvSpPr>
        <p:spPr>
          <a:xfrm>
            <a:off x="14336236" y="6915550"/>
            <a:ext cx="3431860" cy="1835422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chemeClr val="dk1">
                  <a:lumMod val="67000"/>
                </a:schemeClr>
              </a:gs>
              <a:gs pos="48000">
                <a:schemeClr val="dk1">
                  <a:lumMod val="97000"/>
                  <a:lumOff val="3000"/>
                </a:schemeClr>
              </a:gs>
              <a:gs pos="100000">
                <a:schemeClr val="dk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lIns="127000" tIns="76200" rIns="1016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000" b="1" dirty="0">
                <a:solidFill>
                  <a:srgbClr val="F2F5FA"/>
                </a:solidFill>
                <a:latin typeface="Arial"/>
              </a:rPr>
              <a:t>👤 Better Customer Protection</a:t>
            </a:r>
            <a:endParaRPr lang="en-IN" sz="2000" b="1" dirty="0">
              <a:solidFill>
                <a:srgbClr val="F2F5FA"/>
              </a:solidFill>
              <a:latin typeface="Arial"/>
            </a:endParaRPr>
          </a:p>
          <a:p>
            <a:pPr algn="ctr"/>
            <a:endParaRPr sz="2000" b="1" dirty="0">
              <a:solidFill>
                <a:srgbClr val="F2F5FA"/>
              </a:solidFill>
              <a:latin typeface="Arial"/>
            </a:endParaRP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1400" dirty="0">
                <a:solidFill>
                  <a:srgbClr val="93A1B8"/>
                </a:solidFill>
                <a:latin typeface="Arial"/>
              </a:rPr>
              <a:t>Flags unauthorized patterns without assuming fraud.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20060416" cy="10287000"/>
          </a:xfrm>
          <a:custGeom>
            <a:avLst/>
            <a:gdLst/>
            <a:ahLst/>
            <a:cxnLst/>
            <a:rect l="l" t="t" r="r" b="b"/>
            <a:pathLst>
              <a:path w="18278283" h="10287000" extrusionOk="0">
                <a:moveTo>
                  <a:pt x="0" y="0"/>
                </a:moveTo>
                <a:lnTo>
                  <a:pt x="18278283" y="0"/>
                </a:lnTo>
                <a:lnTo>
                  <a:pt x="182782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1" name="Google Shape;131;p6"/>
          <p:cNvGrpSpPr/>
          <p:nvPr/>
        </p:nvGrpSpPr>
        <p:grpSpPr>
          <a:xfrm>
            <a:off x="-1746666" y="171450"/>
            <a:ext cx="18568219" cy="1885950"/>
            <a:chOff x="-2812025" y="0"/>
            <a:chExt cx="24757625" cy="2514600"/>
          </a:xfrm>
        </p:grpSpPr>
        <p:sp>
          <p:nvSpPr>
            <p:cNvPr id="132" name="Google Shape;132;p6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l="-995" t="-432393" b="-437163"/>
              </a:stretch>
            </a:blipFill>
            <a:ln>
              <a:noFill/>
            </a:ln>
          </p:spPr>
        </p:sp>
        <p:sp>
          <p:nvSpPr>
            <p:cNvPr id="133" name="Google Shape;133;p6"/>
            <p:cNvSpPr txBox="1"/>
            <p:nvPr/>
          </p:nvSpPr>
          <p:spPr>
            <a:xfrm>
              <a:off x="-2812025" y="200025"/>
              <a:ext cx="21945600" cy="2314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 b="1" i="0" u="none" strike="noStrike" cap="none" dirty="0">
                  <a:solidFill>
                    <a:srgbClr val="000000"/>
                  </a:solidFill>
                  <a:latin typeface="Times"/>
                  <a:ea typeface="Times"/>
                  <a:cs typeface="Times"/>
                  <a:sym typeface="Times"/>
                </a:rPr>
                <a:t>RESEARCH  AND REFERENCES</a:t>
              </a:r>
              <a:endParaRPr dirty="0"/>
            </a:p>
          </p:txBody>
        </p:sp>
      </p:grpSp>
      <p:sp>
        <p:nvSpPr>
          <p:cNvPr id="135" name="Google Shape;135;p6"/>
          <p:cNvSpPr/>
          <p:nvPr/>
        </p:nvSpPr>
        <p:spPr>
          <a:xfrm>
            <a:off x="14094588" y="501454"/>
            <a:ext cx="4183695" cy="1384496"/>
          </a:xfrm>
          <a:custGeom>
            <a:avLst/>
            <a:gdLst/>
            <a:ahLst/>
            <a:cxnLst/>
            <a:rect l="l" t="t" r="r" b="b"/>
            <a:pathLst>
              <a:path w="4183695" h="1384496" extrusionOk="0">
                <a:moveTo>
                  <a:pt x="0" y="0"/>
                </a:moveTo>
                <a:lnTo>
                  <a:pt x="4183695" y="0"/>
                </a:lnTo>
                <a:lnTo>
                  <a:pt x="4183695" y="1384496"/>
                </a:lnTo>
                <a:lnTo>
                  <a:pt x="0" y="13844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0657" t="-130613" r="-9473" b="-132403"/>
            </a:stretch>
          </a:blipFill>
          <a:ln>
            <a:noFill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9344B9-FD9C-3802-B8AB-C4F40F858A28}"/>
              </a:ext>
            </a:extLst>
          </p:cNvPr>
          <p:cNvSpPr txBox="1"/>
          <p:nvPr/>
        </p:nvSpPr>
        <p:spPr>
          <a:xfrm>
            <a:off x="1224195" y="2145363"/>
            <a:ext cx="1496224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6">
                    <a:lumMod val="50000"/>
                  </a:schemeClr>
                </a:solidFill>
              </a:rPr>
              <a:t>Dataset / Data Sources</a:t>
            </a:r>
          </a:p>
          <a:p>
            <a:pPr lvl="0"/>
            <a:r>
              <a:rPr lang="en-IN" sz="2800" b="1" dirty="0"/>
              <a:t>Kaggle — Credit Card Fraud Detection Dataset</a:t>
            </a:r>
            <a:r>
              <a:rPr lang="en-IN" sz="2800" dirty="0"/>
              <a:t> </a:t>
            </a:r>
          </a:p>
          <a:p>
            <a:pPr lvl="0"/>
            <a:r>
              <a:rPr lang="en-IN" sz="2800" dirty="0"/>
              <a:t>Public/historical transaction datasets used for prototype experimentation</a:t>
            </a:r>
          </a:p>
          <a:p>
            <a:br>
              <a:rPr lang="en-IN" sz="3600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en-IN" sz="3600" b="1" dirty="0">
                <a:solidFill>
                  <a:schemeClr val="accent6">
                    <a:lumMod val="50000"/>
                  </a:schemeClr>
                </a:solidFill>
              </a:rPr>
              <a:t>Technical References</a:t>
            </a:r>
          </a:p>
          <a:p>
            <a:pPr lvl="0"/>
            <a:r>
              <a:rPr lang="en-IN" sz="2800" b="1" dirty="0"/>
              <a:t>Scikit-learn Documentation</a:t>
            </a:r>
            <a:r>
              <a:rPr lang="en-IN" sz="2800" dirty="0"/>
              <a:t> — Machine Learning algorithms &amp; evaluation </a:t>
            </a:r>
          </a:p>
          <a:p>
            <a:pPr lvl="0"/>
            <a:r>
              <a:rPr lang="en-IN" sz="2800" b="1" dirty="0"/>
              <a:t>Pandas Documentation</a:t>
            </a:r>
            <a:r>
              <a:rPr lang="en-IN" sz="2800" dirty="0"/>
              <a:t> — Data processing </a:t>
            </a:r>
          </a:p>
          <a:p>
            <a:pPr lvl="0"/>
            <a:r>
              <a:rPr lang="en-IN" sz="2800" b="1" dirty="0" err="1"/>
              <a:t>Streamlit</a:t>
            </a:r>
            <a:r>
              <a:rPr lang="en-IN" sz="2800" b="1" dirty="0"/>
              <a:t> Documentation</a:t>
            </a:r>
            <a:r>
              <a:rPr lang="en-IN" sz="2800" dirty="0"/>
              <a:t> — Interactive ML application development </a:t>
            </a:r>
          </a:p>
          <a:p>
            <a:pPr lvl="0"/>
            <a:r>
              <a:rPr lang="en-IN" sz="2800" b="1" dirty="0" err="1"/>
              <a:t>Joblib</a:t>
            </a:r>
            <a:r>
              <a:rPr lang="en-IN" sz="2800" b="1" dirty="0"/>
              <a:t> Documentation</a:t>
            </a:r>
            <a:r>
              <a:rPr lang="en-IN" sz="2800" dirty="0"/>
              <a:t> — Model persistence</a:t>
            </a:r>
          </a:p>
          <a:p>
            <a:pPr lvl="0"/>
            <a:endParaRPr lang="en-IN" sz="2800" dirty="0"/>
          </a:p>
          <a:p>
            <a:pPr lvl="0"/>
            <a:endParaRPr lang="en-IN" sz="2800" dirty="0"/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36108F13-F3FD-9289-931B-7DBA85227CE5}"/>
              </a:ext>
            </a:extLst>
          </p:cNvPr>
          <p:cNvSpPr/>
          <p:nvPr/>
        </p:nvSpPr>
        <p:spPr>
          <a:xfrm>
            <a:off x="1320901" y="7138376"/>
            <a:ext cx="7384414" cy="1522437"/>
          </a:xfrm>
          <a:prstGeom prst="roundRect">
            <a:avLst>
              <a:gd name="adj" fmla="val 20000"/>
            </a:avLst>
          </a:prstGeom>
          <a:solidFill>
            <a:srgbClr val="162036"/>
          </a:solidFill>
          <a:ln w="9525">
            <a:solidFill>
              <a:srgbClr val="35D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solidFill>
                  <a:srgbClr val="35D6F0"/>
                </a:solidFill>
                <a:latin typeface="Arial"/>
              </a:rPr>
              <a:t>🔗  GitHub  —  </a:t>
            </a:r>
            <a:endParaRPr lang="en-IN" sz="2400" b="1" dirty="0">
              <a:solidFill>
                <a:srgbClr val="35D6F0"/>
              </a:solidFill>
              <a:latin typeface="Arial"/>
            </a:endParaRPr>
          </a:p>
          <a:p>
            <a:pPr algn="ctr"/>
            <a:r>
              <a:rPr sz="2000" dirty="0">
                <a:solidFill>
                  <a:srgbClr val="F2F5FA"/>
                </a:solidFill>
                <a:latin typeface="Arial"/>
              </a:rPr>
              <a:t>github.com/</a:t>
            </a:r>
            <a:r>
              <a:rPr sz="2000" dirty="0" err="1">
                <a:solidFill>
                  <a:srgbClr val="F2F5FA"/>
                </a:solidFill>
                <a:latin typeface="Arial"/>
              </a:rPr>
              <a:t>IshwariUgale</a:t>
            </a:r>
            <a:r>
              <a:rPr sz="2000" dirty="0">
                <a:solidFill>
                  <a:srgbClr val="F2F5FA"/>
                </a:solidFill>
                <a:latin typeface="Arial"/>
              </a:rPr>
              <a:t>-hub/</a:t>
            </a:r>
            <a:r>
              <a:rPr sz="2000" dirty="0" err="1">
                <a:solidFill>
                  <a:srgbClr val="F2F5FA"/>
                </a:solidFill>
                <a:latin typeface="Arial"/>
              </a:rPr>
              <a:t>FraudScope</a:t>
            </a:r>
            <a:r>
              <a:rPr sz="2000" dirty="0">
                <a:solidFill>
                  <a:srgbClr val="F2F5FA"/>
                </a:solidFill>
                <a:latin typeface="Arial"/>
              </a:rPr>
              <a:t>-ai</a:t>
            </a:r>
          </a:p>
        </p:txBody>
      </p:sp>
      <p:sp>
        <p:nvSpPr>
          <p:cNvPr id="4" name="Rounded Rectangle 7">
            <a:extLst>
              <a:ext uri="{FF2B5EF4-FFF2-40B4-BE49-F238E27FC236}">
                <a16:creationId xmlns:a16="http://schemas.microsoft.com/office/drawing/2014/main" id="{3B7D1ABB-BE46-C01D-1F8C-B185CDB9F15E}"/>
              </a:ext>
            </a:extLst>
          </p:cNvPr>
          <p:cNvSpPr/>
          <p:nvPr/>
        </p:nvSpPr>
        <p:spPr>
          <a:xfrm>
            <a:off x="9144000" y="7016456"/>
            <a:ext cx="7384414" cy="1522437"/>
          </a:xfrm>
          <a:prstGeom prst="roundRect">
            <a:avLst>
              <a:gd name="adj" fmla="val 20000"/>
            </a:avLst>
          </a:prstGeom>
          <a:solidFill>
            <a:srgbClr val="162036"/>
          </a:solidFill>
          <a:ln w="9525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400" b="1" dirty="0">
                <a:solidFill>
                  <a:schemeClr val="bg1"/>
                </a:solidFill>
                <a:latin typeface="Arial"/>
              </a:rPr>
              <a:t>▶  Working Prototype  — </a:t>
            </a:r>
            <a:endParaRPr lang="en-IN" sz="2400" b="1" dirty="0">
              <a:solidFill>
                <a:schemeClr val="bg1"/>
              </a:solidFill>
              <a:latin typeface="Arial"/>
            </a:endParaRPr>
          </a:p>
          <a:p>
            <a:pPr algn="ctr"/>
            <a:r>
              <a:rPr sz="2400" b="1" dirty="0">
                <a:solidFill>
                  <a:schemeClr val="bg1"/>
                </a:solidFill>
                <a:latin typeface="Arial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dirty="0">
                <a:solidFill>
                  <a:schemeClr val="bg1"/>
                </a:solidFill>
                <a:latin typeface="Arial"/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fraudscope-ai-cwimixvf4n9ykrnusventy.streamlit.app</a:t>
            </a:r>
            <a:endParaRPr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463</Words>
  <Application>Microsoft Office PowerPoint</Application>
  <PresentationFormat>Custom</PresentationFormat>
  <Paragraphs>130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Times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213 Aditi Deshmukh</cp:lastModifiedBy>
  <cp:revision>4</cp:revision>
  <dcterms:created xsi:type="dcterms:W3CDTF">2006-08-16T00:00:00Z</dcterms:created>
  <dcterms:modified xsi:type="dcterms:W3CDTF">2026-10-03T03:56:42Z</dcterms:modified>
</cp:coreProperties>
</file>